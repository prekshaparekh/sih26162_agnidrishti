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FIRMS tells you where the Earth is hot, not why. A refinery flare triggers a detection every single day, so raw alerts are unusable - operators stop reading them within a week. Our contribution is the interpretation layer.
Distance to a factory is an input FEATURE, never the label. If proximity decided the label and was also the model input, the model would have learned nothing and its accuracy would be meaningless.
Why not deep learning: about a dozen structured geospatial features over a few hundred examples. A Random Forest is more accurate in that regime AND shows which feature drove each decision - which an operator acting on an alert actually needs.
The 100% figure: OSM land-use alone left 56% of sites unclassifiable. We diagnosed that and switched to ESA WorldCover, a wall-to-wall 10 m raster read remotely so there is no bulk download.
Why no accuracy number: judges see inflated claims constantly. Saying we have not measured it yet, and why, is more credible than a number we cannot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412480" cy="502920"/>
          </a:xfrm>
          <a:prstGeom prst="rect">
            <a:avLst/>
          </a:prstGeom>
          <a:noFill/>
          <a:ln/>
        </p:spPr>
        <p:txBody>
          <a:bodyPr wrap="square" lIns="0" tIns="0" rIns="0" bIns="0" rtlCol="0" anchor="ctr"/>
          <a:lstStyle/>
          <a:p>
            <a:pPr indent="0" marL="0">
              <a:buNone/>
            </a:pPr>
            <a:r>
              <a:rPr lang="en-US" sz="3100" b="1" dirty="0">
                <a:solidFill>
                  <a:srgbClr val="13286E"/>
                </a:solidFill>
                <a:latin typeface="Calibri" pitchFamily="34" charset="0"/>
                <a:ea typeface="Calibri" pitchFamily="34" charset="-122"/>
                <a:cs typeface="Calibri" pitchFamily="34" charset="-120"/>
              </a:rPr>
              <a:t>Technical Approach &amp; Technology Stack</a:t>
            </a:r>
            <a:endParaRPr lang="en-US" sz="3100" dirty="0"/>
          </a:p>
        </p:txBody>
      </p:sp>
      <p:sp>
        <p:nvSpPr>
          <p:cNvPr id="3" name="Text 1"/>
          <p:cNvSpPr txBox="1"/>
          <p:nvPr/>
        </p:nvSpPr>
        <p:spPr>
          <a:xfrm>
            <a:off x="548640" y="822960"/>
            <a:ext cx="8412480" cy="274320"/>
          </a:xfrm>
          <a:prstGeom prst="rect">
            <a:avLst/>
          </a:prstGeom>
          <a:noFill/>
          <a:ln/>
        </p:spPr>
        <p:txBody>
          <a:bodyPr wrap="square" lIns="0" tIns="0" rIns="0" bIns="0" rtlCol="0" anchor="ctr"/>
          <a:lstStyle/>
          <a:p>
            <a:pPr indent="0" marL="0">
              <a:buNone/>
            </a:pPr>
            <a:r>
              <a:rPr lang="en-US" sz="1250" dirty="0">
                <a:solidFill>
                  <a:srgbClr val="5B6B7F"/>
                </a:solidFill>
                <a:latin typeface="Calibri" pitchFamily="34" charset="0"/>
                <a:ea typeface="Calibri" pitchFamily="34" charset="-122"/>
                <a:cs typeface="Calibri" pitchFamily="34" charset="-120"/>
              </a:rPr>
              <a:t>AgniDrishti — AI-assisted classification of industrial fires and persistent thermal sources</a:t>
            </a:r>
            <a:endParaRPr lang="en-US" sz="1250" dirty="0"/>
          </a:p>
        </p:txBody>
      </p:sp>
      <p:sp>
        <p:nvSpPr>
          <p:cNvPr id="4" name="Text 2"/>
          <p:cNvSpPr txBox="1"/>
          <p:nvPr/>
        </p:nvSpPr>
        <p:spPr>
          <a:xfrm>
            <a:off x="8229600" y="384048"/>
            <a:ext cx="3383280" cy="237744"/>
          </a:xfrm>
          <a:prstGeom prst="rect">
            <a:avLst/>
          </a:prstGeom>
          <a:noFill/>
          <a:ln/>
        </p:spPr>
        <p:txBody>
          <a:bodyPr wrap="square" lIns="0" tIns="0" rIns="0" bIns="0" rtlCol="0" anchor="ctr"/>
          <a:lstStyle/>
          <a:p>
            <a:pPr algn="r" indent="0" marL="0">
              <a:buNone/>
            </a:pPr>
            <a:r>
              <a:rPr lang="en-US" sz="1100" b="1" dirty="0">
                <a:solidFill>
                  <a:srgbClr val="13286E"/>
                </a:solidFill>
                <a:latin typeface="Calibri" pitchFamily="34" charset="0"/>
                <a:ea typeface="Calibri" pitchFamily="34" charset="-122"/>
                <a:cs typeface="Calibri" pitchFamily="34" charset="-120"/>
              </a:rPr>
              <a:t>PS 26162</a:t>
            </a:r>
            <a:pPr algn="r" indent="0" marL="0">
              <a:buNone/>
            </a:pPr>
            <a:r>
              <a:rPr lang="en-US" sz="1100" dirty="0">
                <a:solidFill>
                  <a:srgbClr val="5B6B7F"/>
                </a:solidFill>
                <a:latin typeface="Calibri" pitchFamily="34" charset="0"/>
                <a:ea typeface="Calibri" pitchFamily="34" charset="-122"/>
                <a:cs typeface="Calibri" pitchFamily="34" charset="-120"/>
              </a:rPr>
              <a:t>   ·   NTRO   ·   Disaster Management</a:t>
            </a:r>
            <a:endParaRPr lang="en-US" sz="1100" dirty="0"/>
          </a:p>
        </p:txBody>
      </p:sp>
      <p:sp>
        <p:nvSpPr>
          <p:cNvPr id="5" name="Text 3"/>
          <p:cNvSpPr txBox="1"/>
          <p:nvPr/>
        </p:nvSpPr>
        <p:spPr>
          <a:xfrm>
            <a:off x="8229600" y="640080"/>
            <a:ext cx="3383280" cy="237744"/>
          </a:xfrm>
          <a:prstGeom prst="rect">
            <a:avLst/>
          </a:prstGeom>
          <a:noFill/>
          <a:ln/>
        </p:spPr>
        <p:txBody>
          <a:bodyPr wrap="square" lIns="0" tIns="0" rIns="0" bIns="0" rtlCol="0" anchor="ctr"/>
          <a:lstStyle/>
          <a:p>
            <a:pPr algn="r" indent="0" marL="0">
              <a:buNone/>
            </a:pPr>
            <a:r>
              <a:rPr lang="en-US" sz="1050" dirty="0">
                <a:solidFill>
                  <a:srgbClr val="5B6B7F"/>
                </a:solidFill>
                <a:latin typeface="Calibri" pitchFamily="34" charset="0"/>
                <a:ea typeface="Calibri" pitchFamily="34" charset="-122"/>
                <a:cs typeface="Calibri" pitchFamily="34" charset="-120"/>
              </a:rPr>
              <a:t>Team AsyncMavericks_SIH0162</a:t>
            </a:r>
            <a:endParaRPr lang="en-US" sz="1050" dirty="0"/>
          </a:p>
        </p:txBody>
      </p:sp>
      <p:sp>
        <p:nvSpPr>
          <p:cNvPr id="6" name="Shape 4"/>
          <p:cNvSpPr/>
          <p:nvPr/>
        </p:nvSpPr>
        <p:spPr>
          <a:xfrm>
            <a:off x="548640" y="1207008"/>
            <a:ext cx="2011680" cy="713232"/>
          </a:xfrm>
          <a:prstGeom prst="roundRect">
            <a:avLst>
              <a:gd name="adj" fmla="val 8974"/>
            </a:avLst>
          </a:prstGeom>
          <a:solidFill>
            <a:srgbClr val="F2F5FB"/>
          </a:solidFill>
          <a:ln w="12700">
            <a:solidFill>
              <a:srgbClr val="DCE3EC"/>
            </a:solidFill>
            <a:prstDash val="solid"/>
          </a:ln>
        </p:spPr>
      </p:sp>
      <p:sp>
        <p:nvSpPr>
          <p:cNvPr id="7" name="Text 5"/>
          <p:cNvSpPr txBox="1"/>
          <p:nvPr/>
        </p:nvSpPr>
        <p:spPr>
          <a:xfrm>
            <a:off x="548640" y="1289304"/>
            <a:ext cx="2011680" cy="237744"/>
          </a:xfrm>
          <a:prstGeom prst="rect">
            <a:avLst/>
          </a:prstGeom>
          <a:noFill/>
          <a:ln/>
        </p:spPr>
        <p:txBody>
          <a:bodyPr wrap="square" lIns="0" tIns="0" rIns="0" bIns="0" rtlCol="0" anchor="ctr"/>
          <a:lstStyle/>
          <a:p>
            <a:pPr algn="ctr" indent="0" marL="0">
              <a:buNone/>
            </a:pPr>
            <a:r>
              <a:rPr lang="en-US" sz="1150" b="1" spc="80" kern="0" dirty="0">
                <a:solidFill>
                  <a:srgbClr val="13286E"/>
                </a:solidFill>
                <a:latin typeface="Calibri" pitchFamily="34" charset="0"/>
                <a:ea typeface="Calibri" pitchFamily="34" charset="-122"/>
                <a:cs typeface="Calibri" pitchFamily="34" charset="-120"/>
              </a:rPr>
              <a:t>INGEST</a:t>
            </a:r>
            <a:endParaRPr lang="en-US" sz="1150" dirty="0"/>
          </a:p>
        </p:txBody>
      </p:sp>
      <p:sp>
        <p:nvSpPr>
          <p:cNvPr id="8" name="Text 6"/>
          <p:cNvSpPr txBox="1"/>
          <p:nvPr/>
        </p:nvSpPr>
        <p:spPr>
          <a:xfrm>
            <a:off x="621792" y="1554480"/>
            <a:ext cx="1865376" cy="256032"/>
          </a:xfrm>
          <a:prstGeom prst="rect">
            <a:avLst/>
          </a:prstGeom>
          <a:noFill/>
          <a:ln/>
        </p:spPr>
        <p:txBody>
          <a:bodyPr wrap="square" lIns="0" tIns="0" rIns="0" bIns="0" rtlCol="0" anchor="ctr"/>
          <a:lstStyle/>
          <a:p>
            <a:pPr algn="ctr" indent="0" marL="0">
              <a:buNone/>
            </a:pPr>
            <a:r>
              <a:rPr lang="en-US" sz="850" dirty="0">
                <a:solidFill>
                  <a:srgbClr val="5B6B7F"/>
                </a:solidFill>
                <a:latin typeface="Calibri" pitchFamily="34" charset="0"/>
                <a:ea typeface="Calibri" pitchFamily="34" charset="-122"/>
                <a:cs typeface="Calibri" pitchFamily="34" charset="-120"/>
              </a:rPr>
              <a:t>FIRMS VIIRS 375 m · 3 satellites</a:t>
            </a:r>
            <a:endParaRPr lang="en-US" sz="850" dirty="0"/>
          </a:p>
        </p:txBody>
      </p:sp>
      <p:sp>
        <p:nvSpPr>
          <p:cNvPr id="9" name="Text 7"/>
          <p:cNvSpPr txBox="1"/>
          <p:nvPr/>
        </p:nvSpPr>
        <p:spPr>
          <a:xfrm>
            <a:off x="2523744" y="1371600"/>
            <a:ext cx="324612" cy="329184"/>
          </a:xfrm>
          <a:prstGeom prst="rect">
            <a:avLst/>
          </a:prstGeom>
          <a:noFill/>
          <a:ln/>
        </p:spPr>
        <p:txBody>
          <a:bodyPr wrap="square" lIns="0" tIns="0" rIns="0" bIns="0" rtlCol="0" anchor="ctr"/>
          <a:lstStyle/>
          <a:p>
            <a:pPr algn="ctr" indent="0" marL="0">
              <a:buNone/>
            </a:pPr>
            <a:r>
              <a:rPr lang="en-US" sz="1400" b="1" dirty="0">
                <a:solidFill>
                  <a:srgbClr val="FF9933"/>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811780" y="1207008"/>
            <a:ext cx="2011680" cy="713232"/>
          </a:xfrm>
          <a:prstGeom prst="roundRect">
            <a:avLst>
              <a:gd name="adj" fmla="val 8974"/>
            </a:avLst>
          </a:prstGeom>
          <a:solidFill>
            <a:srgbClr val="F2F5FB"/>
          </a:solidFill>
          <a:ln w="12700">
            <a:solidFill>
              <a:srgbClr val="DCE3EC"/>
            </a:solidFill>
            <a:prstDash val="solid"/>
          </a:ln>
        </p:spPr>
      </p:sp>
      <p:sp>
        <p:nvSpPr>
          <p:cNvPr id="11" name="Text 9"/>
          <p:cNvSpPr txBox="1"/>
          <p:nvPr/>
        </p:nvSpPr>
        <p:spPr>
          <a:xfrm>
            <a:off x="2811780" y="1289304"/>
            <a:ext cx="2011680" cy="237744"/>
          </a:xfrm>
          <a:prstGeom prst="rect">
            <a:avLst/>
          </a:prstGeom>
          <a:noFill/>
          <a:ln/>
        </p:spPr>
        <p:txBody>
          <a:bodyPr wrap="square" lIns="0" tIns="0" rIns="0" bIns="0" rtlCol="0" anchor="ctr"/>
          <a:lstStyle/>
          <a:p>
            <a:pPr algn="ctr" indent="0" marL="0">
              <a:buNone/>
            </a:pPr>
            <a:r>
              <a:rPr lang="en-US" sz="1150" b="1" spc="80" kern="0" dirty="0">
                <a:solidFill>
                  <a:srgbClr val="13286E"/>
                </a:solidFill>
                <a:latin typeface="Calibri" pitchFamily="34" charset="0"/>
                <a:ea typeface="Calibri" pitchFamily="34" charset="-122"/>
                <a:cs typeface="Calibri" pitchFamily="34" charset="-120"/>
              </a:rPr>
              <a:t>CLUSTER</a:t>
            </a:r>
            <a:endParaRPr lang="en-US" sz="1150" dirty="0"/>
          </a:p>
        </p:txBody>
      </p:sp>
      <p:sp>
        <p:nvSpPr>
          <p:cNvPr id="12" name="Text 10"/>
          <p:cNvSpPr txBox="1"/>
          <p:nvPr/>
        </p:nvSpPr>
        <p:spPr>
          <a:xfrm>
            <a:off x="2884932" y="1554480"/>
            <a:ext cx="1865376" cy="256032"/>
          </a:xfrm>
          <a:prstGeom prst="rect">
            <a:avLst/>
          </a:prstGeom>
          <a:noFill/>
          <a:ln/>
        </p:spPr>
        <p:txBody>
          <a:bodyPr wrap="square" lIns="0" tIns="0" rIns="0" bIns="0" rtlCol="0" anchor="ctr"/>
          <a:lstStyle/>
          <a:p>
            <a:pPr algn="ctr" indent="0" marL="0">
              <a:buNone/>
            </a:pPr>
            <a:r>
              <a:rPr lang="en-US" sz="850" dirty="0">
                <a:solidFill>
                  <a:srgbClr val="5B6B7F"/>
                </a:solidFill>
                <a:latin typeface="Calibri" pitchFamily="34" charset="0"/>
                <a:ea typeface="Calibri" pitchFamily="34" charset="-122"/>
                <a:cs typeface="Calibri" pitchFamily="34" charset="-120"/>
              </a:rPr>
              <a:t>Grouped into persistent sites</a:t>
            </a:r>
            <a:endParaRPr lang="en-US" sz="850" dirty="0"/>
          </a:p>
        </p:txBody>
      </p:sp>
      <p:sp>
        <p:nvSpPr>
          <p:cNvPr id="13" name="Text 11"/>
          <p:cNvSpPr txBox="1"/>
          <p:nvPr/>
        </p:nvSpPr>
        <p:spPr>
          <a:xfrm>
            <a:off x="4786884" y="1371600"/>
            <a:ext cx="324612" cy="329184"/>
          </a:xfrm>
          <a:prstGeom prst="rect">
            <a:avLst/>
          </a:prstGeom>
          <a:noFill/>
          <a:ln/>
        </p:spPr>
        <p:txBody>
          <a:bodyPr wrap="square" lIns="0" tIns="0" rIns="0" bIns="0" rtlCol="0" anchor="ctr"/>
          <a:lstStyle/>
          <a:p>
            <a:pPr algn="ctr" indent="0" marL="0">
              <a:buNone/>
            </a:pPr>
            <a:r>
              <a:rPr lang="en-US" sz="1400" b="1" dirty="0">
                <a:solidFill>
                  <a:srgbClr val="FF9933"/>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5074920" y="1207008"/>
            <a:ext cx="2011680" cy="713232"/>
          </a:xfrm>
          <a:prstGeom prst="roundRect">
            <a:avLst>
              <a:gd name="adj" fmla="val 8974"/>
            </a:avLst>
          </a:prstGeom>
          <a:solidFill>
            <a:srgbClr val="F2F5FB"/>
          </a:solidFill>
          <a:ln w="12700">
            <a:solidFill>
              <a:srgbClr val="DCE3EC"/>
            </a:solidFill>
            <a:prstDash val="solid"/>
          </a:ln>
        </p:spPr>
      </p:sp>
      <p:sp>
        <p:nvSpPr>
          <p:cNvPr id="15" name="Text 13"/>
          <p:cNvSpPr txBox="1"/>
          <p:nvPr/>
        </p:nvSpPr>
        <p:spPr>
          <a:xfrm>
            <a:off x="5074920" y="1289304"/>
            <a:ext cx="2011680" cy="237744"/>
          </a:xfrm>
          <a:prstGeom prst="rect">
            <a:avLst/>
          </a:prstGeom>
          <a:noFill/>
          <a:ln/>
        </p:spPr>
        <p:txBody>
          <a:bodyPr wrap="square" lIns="0" tIns="0" rIns="0" bIns="0" rtlCol="0" anchor="ctr"/>
          <a:lstStyle/>
          <a:p>
            <a:pPr algn="ctr" indent="0" marL="0">
              <a:buNone/>
            </a:pPr>
            <a:r>
              <a:rPr lang="en-US" sz="1150" b="1" spc="80" kern="0" dirty="0">
                <a:solidFill>
                  <a:srgbClr val="13286E"/>
                </a:solidFill>
                <a:latin typeface="Calibri" pitchFamily="34" charset="0"/>
                <a:ea typeface="Calibri" pitchFamily="34" charset="-122"/>
                <a:cs typeface="Calibri" pitchFamily="34" charset="-120"/>
              </a:rPr>
              <a:t>ENRICH</a:t>
            </a:r>
            <a:endParaRPr lang="en-US" sz="1150" dirty="0"/>
          </a:p>
        </p:txBody>
      </p:sp>
      <p:sp>
        <p:nvSpPr>
          <p:cNvPr id="16" name="Text 14"/>
          <p:cNvSpPr txBox="1"/>
          <p:nvPr/>
        </p:nvSpPr>
        <p:spPr>
          <a:xfrm>
            <a:off x="5148072" y="1554480"/>
            <a:ext cx="1865376" cy="256032"/>
          </a:xfrm>
          <a:prstGeom prst="rect">
            <a:avLst/>
          </a:prstGeom>
          <a:noFill/>
          <a:ln/>
        </p:spPr>
        <p:txBody>
          <a:bodyPr wrap="square" lIns="0" tIns="0" rIns="0" bIns="0" rtlCol="0" anchor="ctr"/>
          <a:lstStyle/>
          <a:p>
            <a:pPr algn="ctr" indent="0" marL="0">
              <a:buNone/>
            </a:pPr>
            <a:r>
              <a:rPr lang="en-US" sz="850" dirty="0">
                <a:solidFill>
                  <a:srgbClr val="5B6B7F"/>
                </a:solidFill>
                <a:latin typeface="Calibri" pitchFamily="34" charset="0"/>
                <a:ea typeface="Calibri" pitchFamily="34" charset="-122"/>
                <a:cs typeface="Calibri" pitchFamily="34" charset="-120"/>
              </a:rPr>
              <a:t>OSM + ESA WorldCover 10 m</a:t>
            </a:r>
            <a:endParaRPr lang="en-US" sz="850" dirty="0"/>
          </a:p>
        </p:txBody>
      </p:sp>
      <p:sp>
        <p:nvSpPr>
          <p:cNvPr id="17" name="Text 15"/>
          <p:cNvSpPr txBox="1"/>
          <p:nvPr/>
        </p:nvSpPr>
        <p:spPr>
          <a:xfrm>
            <a:off x="7050024" y="1371600"/>
            <a:ext cx="324612" cy="329184"/>
          </a:xfrm>
          <a:prstGeom prst="rect">
            <a:avLst/>
          </a:prstGeom>
          <a:noFill/>
          <a:ln/>
        </p:spPr>
        <p:txBody>
          <a:bodyPr wrap="square" lIns="0" tIns="0" rIns="0" bIns="0" rtlCol="0" anchor="ctr"/>
          <a:lstStyle/>
          <a:p>
            <a:pPr algn="ctr" indent="0" marL="0">
              <a:buNone/>
            </a:pPr>
            <a:r>
              <a:rPr lang="en-US" sz="1400" b="1" dirty="0">
                <a:solidFill>
                  <a:srgbClr val="FF9933"/>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7338060" y="1207008"/>
            <a:ext cx="2011680" cy="713232"/>
          </a:xfrm>
          <a:prstGeom prst="roundRect">
            <a:avLst>
              <a:gd name="adj" fmla="val 8974"/>
            </a:avLst>
          </a:prstGeom>
          <a:solidFill>
            <a:srgbClr val="F2F5FB"/>
          </a:solidFill>
          <a:ln w="12700">
            <a:solidFill>
              <a:srgbClr val="DCE3EC"/>
            </a:solidFill>
            <a:prstDash val="solid"/>
          </a:ln>
        </p:spPr>
      </p:sp>
      <p:sp>
        <p:nvSpPr>
          <p:cNvPr id="19" name="Text 17"/>
          <p:cNvSpPr txBox="1"/>
          <p:nvPr/>
        </p:nvSpPr>
        <p:spPr>
          <a:xfrm>
            <a:off x="7338060" y="1289304"/>
            <a:ext cx="2011680" cy="237744"/>
          </a:xfrm>
          <a:prstGeom prst="rect">
            <a:avLst/>
          </a:prstGeom>
          <a:noFill/>
          <a:ln/>
        </p:spPr>
        <p:txBody>
          <a:bodyPr wrap="square" lIns="0" tIns="0" rIns="0" bIns="0" rtlCol="0" anchor="ctr"/>
          <a:lstStyle/>
          <a:p>
            <a:pPr algn="ctr" indent="0" marL="0">
              <a:buNone/>
            </a:pPr>
            <a:r>
              <a:rPr lang="en-US" sz="1150" b="1" spc="80" kern="0" dirty="0">
                <a:solidFill>
                  <a:srgbClr val="13286E"/>
                </a:solidFill>
                <a:latin typeface="Calibri" pitchFamily="34" charset="0"/>
                <a:ea typeface="Calibri" pitchFamily="34" charset="-122"/>
                <a:cs typeface="Calibri" pitchFamily="34" charset="-120"/>
              </a:rPr>
              <a:t>CLASSIFY</a:t>
            </a:r>
            <a:endParaRPr lang="en-US" sz="1150" dirty="0"/>
          </a:p>
        </p:txBody>
      </p:sp>
      <p:sp>
        <p:nvSpPr>
          <p:cNvPr id="20" name="Text 18"/>
          <p:cNvSpPr txBox="1"/>
          <p:nvPr/>
        </p:nvSpPr>
        <p:spPr>
          <a:xfrm>
            <a:off x="7411212" y="1554480"/>
            <a:ext cx="1865376" cy="256032"/>
          </a:xfrm>
          <a:prstGeom prst="rect">
            <a:avLst/>
          </a:prstGeom>
          <a:noFill/>
          <a:ln/>
        </p:spPr>
        <p:txBody>
          <a:bodyPr wrap="square" lIns="0" tIns="0" rIns="0" bIns="0" rtlCol="0" anchor="ctr"/>
          <a:lstStyle/>
          <a:p>
            <a:pPr algn="ctr" indent="0" marL="0">
              <a:buNone/>
            </a:pPr>
            <a:r>
              <a:rPr lang="en-US" sz="850" dirty="0">
                <a:solidFill>
                  <a:srgbClr val="5B6B7F"/>
                </a:solidFill>
                <a:latin typeface="Calibri" pitchFamily="34" charset="0"/>
                <a:ea typeface="Calibri" pitchFamily="34" charset="-122"/>
                <a:cs typeface="Calibri" pitchFamily="34" charset="-120"/>
              </a:rPr>
              <a:t>Random Forest, fixed interface</a:t>
            </a:r>
            <a:endParaRPr lang="en-US" sz="850" dirty="0"/>
          </a:p>
        </p:txBody>
      </p:sp>
      <p:sp>
        <p:nvSpPr>
          <p:cNvPr id="21" name="Text 19"/>
          <p:cNvSpPr txBox="1"/>
          <p:nvPr/>
        </p:nvSpPr>
        <p:spPr>
          <a:xfrm>
            <a:off x="9313164" y="1371600"/>
            <a:ext cx="324612" cy="329184"/>
          </a:xfrm>
          <a:prstGeom prst="rect">
            <a:avLst/>
          </a:prstGeom>
          <a:noFill/>
          <a:ln/>
        </p:spPr>
        <p:txBody>
          <a:bodyPr wrap="square" lIns="0" tIns="0" rIns="0" bIns="0" rtlCol="0" anchor="ctr"/>
          <a:lstStyle/>
          <a:p>
            <a:pPr algn="ctr" indent="0" marL="0">
              <a:buNone/>
            </a:pPr>
            <a:r>
              <a:rPr lang="en-US" sz="1400" b="1" dirty="0">
                <a:solidFill>
                  <a:srgbClr val="FF9933"/>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9601200" y="1207008"/>
            <a:ext cx="2011680" cy="713232"/>
          </a:xfrm>
          <a:prstGeom prst="roundRect">
            <a:avLst>
              <a:gd name="adj" fmla="val 8974"/>
            </a:avLst>
          </a:prstGeom>
          <a:solidFill>
            <a:srgbClr val="F2F5FB"/>
          </a:solidFill>
          <a:ln w="12700">
            <a:solidFill>
              <a:srgbClr val="DCE3EC"/>
            </a:solidFill>
            <a:prstDash val="solid"/>
          </a:ln>
        </p:spPr>
      </p:sp>
      <p:sp>
        <p:nvSpPr>
          <p:cNvPr id="23" name="Text 21"/>
          <p:cNvSpPr txBox="1"/>
          <p:nvPr/>
        </p:nvSpPr>
        <p:spPr>
          <a:xfrm>
            <a:off x="9601200" y="1289304"/>
            <a:ext cx="2011680" cy="237744"/>
          </a:xfrm>
          <a:prstGeom prst="rect">
            <a:avLst/>
          </a:prstGeom>
          <a:noFill/>
          <a:ln/>
        </p:spPr>
        <p:txBody>
          <a:bodyPr wrap="square" lIns="0" tIns="0" rIns="0" bIns="0" rtlCol="0" anchor="ctr"/>
          <a:lstStyle/>
          <a:p>
            <a:pPr algn="ctr" indent="0" marL="0">
              <a:buNone/>
            </a:pPr>
            <a:r>
              <a:rPr lang="en-US" sz="1150" b="1" spc="80" kern="0" dirty="0">
                <a:solidFill>
                  <a:srgbClr val="13286E"/>
                </a:solidFill>
                <a:latin typeface="Calibri" pitchFamily="34" charset="0"/>
                <a:ea typeface="Calibri" pitchFamily="34" charset="-122"/>
                <a:cs typeface="Calibri" pitchFamily="34" charset="-120"/>
              </a:rPr>
              <a:t>VISUALISE</a:t>
            </a:r>
            <a:endParaRPr lang="en-US" sz="1150" dirty="0"/>
          </a:p>
        </p:txBody>
      </p:sp>
      <p:sp>
        <p:nvSpPr>
          <p:cNvPr id="24" name="Text 22"/>
          <p:cNvSpPr txBox="1"/>
          <p:nvPr/>
        </p:nvSpPr>
        <p:spPr>
          <a:xfrm>
            <a:off x="9674352" y="1554480"/>
            <a:ext cx="1865376" cy="256032"/>
          </a:xfrm>
          <a:prstGeom prst="rect">
            <a:avLst/>
          </a:prstGeom>
          <a:noFill/>
          <a:ln/>
        </p:spPr>
        <p:txBody>
          <a:bodyPr wrap="square" lIns="0" tIns="0" rIns="0" bIns="0" rtlCol="0" anchor="ctr"/>
          <a:lstStyle/>
          <a:p>
            <a:pPr algn="ctr" indent="0" marL="0">
              <a:buNone/>
            </a:pPr>
            <a:r>
              <a:rPr lang="en-US" sz="850" dirty="0">
                <a:solidFill>
                  <a:srgbClr val="5B6B7F"/>
                </a:solidFill>
                <a:latin typeface="Calibri" pitchFamily="34" charset="0"/>
                <a:ea typeface="Calibri" pitchFamily="34" charset="-122"/>
                <a:cs typeface="Calibri" pitchFamily="34" charset="-120"/>
              </a:rPr>
              <a:t>Map · evidence · analytics</a:t>
            </a:r>
            <a:endParaRPr lang="en-US" sz="8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6766560" cy="914400"/>
        </p:xfrm>
        <a:graphic>
          <a:graphicData uri="http://schemas.openxmlformats.org/drawingml/2006/table">
            <a:tbl>
              <a:tblPr/>
              <a:tblGrid>
                <a:gridCol w="1371600"/>
                <a:gridCol w="2377440"/>
                <a:gridCol w="3017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 LAYER</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13286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 TECHNOLOGY</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13286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 WHY THIS CHOICE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13286E"/>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Data</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FIRMS · OpenStreetMap · ESA WorldCover</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Free, authoritative, sustainable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Geoprocessing</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Python · Shapely · Rasterio</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10 m land cover read remotely, no download</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AI / ML</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scikit-learn — Random Forest</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Inspectable feature importance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Backend</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Django 5</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Auth, ORM, role-based access built in</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Frontend</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HTMX · Alpine.js · Tailwind CSS</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Server-rendered; no SPA build pipeline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Visualisation</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Leaflet · Plotly</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Provider-agnostic — no vendor lock-in</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Database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SQLite → PostgreSQL + PostGIS</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PostGIS when spatial joins scale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 Deployment</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Lightweight → Docker + cloud</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 Core pipeline never rewritten to scale</a:t>
                      </a:r>
                      <a:endParaRPr lang="en-US" sz="950" dirty="0">
                        <a:latin typeface="Calibri" charset="0"/>
                        <a:ea typeface="Calibri" charset="0"/>
                        <a:cs typeface="Calibri" charset="0"/>
                      </a:endParaRPr>
                    </a:p>
                  </a:txBody>
                  <a:tcPr marL="91440" marR="91440" marT="45720" marB="45720" anchor="ctr">
                    <a:lnL w="12700" cap="flat" cmpd="sng" algn="ctr">
                      <a:solidFill>
                        <a:srgbClr val="DCE3EC"/>
                      </a:solidFill>
                      <a:prstDash val="solid"/>
                      <a:round/>
                      <a:headEnd type="none" w="med" len="med"/>
                      <a:tailEnd type="none" w="med" len="med"/>
                    </a:lnL>
                    <a:lnR w="12700" cap="flat" cmpd="sng" algn="ctr">
                      <a:solidFill>
                        <a:srgbClr val="DCE3EC"/>
                      </a:solidFill>
                      <a:prstDash val="solid"/>
                      <a:round/>
                      <a:headEnd type="none" w="med" len="med"/>
                      <a:tailEnd type="none" w="med" len="med"/>
                    </a:lnR>
                    <a:lnT w="12700" cap="flat" cmpd="sng" algn="ctr">
                      <a:solidFill>
                        <a:srgbClr val="DCE3EC"/>
                      </a:solidFill>
                      <a:prstDash val="solid"/>
                      <a:round/>
                      <a:headEnd type="none" w="med" len="med"/>
                      <a:tailEnd type="none" w="med" len="med"/>
                    </a:lnT>
                    <a:lnB w="12700" cap="flat" cmpd="sng" algn="ctr">
                      <a:solidFill>
                        <a:srgbClr val="DCE3EC"/>
                      </a:solidFill>
                      <a:prstDash val="solid"/>
                      <a:round/>
                      <a:headEnd type="none" w="med" len="med"/>
                      <a:tailEnd type="none" w="med" len="med"/>
                    </a:lnB>
                    <a:solidFill>
                      <a:srgbClr val="FFFFFF"/>
                    </a:solidFill>
                  </a:tcPr>
                </a:tc>
              </a:tr>
            </a:tbl>
          </a:graphicData>
        </a:graphic>
      </p:graphicFrame>
      <p:sp>
        <p:nvSpPr>
          <p:cNvPr id="26" name="Text 23"/>
          <p:cNvSpPr txBox="1"/>
          <p:nvPr/>
        </p:nvSpPr>
        <p:spPr>
          <a:xfrm>
            <a:off x="548640" y="5029200"/>
            <a:ext cx="6766560" cy="402336"/>
          </a:xfrm>
          <a:prstGeom prst="rect">
            <a:avLst/>
          </a:prstGeom>
          <a:noFill/>
          <a:ln/>
        </p:spPr>
        <p:txBody>
          <a:bodyPr wrap="square" lIns="0" tIns="0" rIns="0" bIns="0" rtlCol="0" anchor="ctr"/>
          <a:lstStyle/>
          <a:p>
            <a:pPr indent="0" marL="0">
              <a:buNone/>
            </a:pPr>
            <a:r>
              <a:rPr lang="en-US" sz="950" b="1" dirty="0">
                <a:solidFill>
                  <a:srgbClr val="138808"/>
                </a:solidFill>
                <a:latin typeface="Calibri" pitchFamily="34" charset="0"/>
                <a:ea typeface="Calibri" pitchFamily="34" charset="-122"/>
                <a:cs typeface="Calibri" pitchFamily="34" charset="-120"/>
              </a:rPr>
              <a:t>Verified on live data:  </a:t>
            </a:r>
            <a:pPr indent="0" marL="0">
              <a:buNone/>
            </a:pPr>
            <a:r>
              <a:rPr lang="en-US" sz="950" dirty="0">
                <a:solidFill>
                  <a:srgbClr val="5B6B7F"/>
                </a:solidFill>
                <a:latin typeface="Calibri" pitchFamily="34" charset="0"/>
                <a:ea typeface="Calibri" pitchFamily="34" charset="-122"/>
                <a:cs typeface="Calibri" pitchFamily="34" charset="-120"/>
              </a:rPr>
              <a:t>persistent flare correctly identified at Reliance Refinery, Jamnagar — 105 m from the mapped facility, FRP stable at CV 0.21.</a:t>
            </a:r>
            <a:endParaRPr lang="en-US" sz="950" dirty="0"/>
          </a:p>
        </p:txBody>
      </p:sp>
      <p:sp>
        <p:nvSpPr>
          <p:cNvPr id="27" name="Shape 24"/>
          <p:cNvSpPr/>
          <p:nvPr/>
        </p:nvSpPr>
        <p:spPr>
          <a:xfrm>
            <a:off x="7589520" y="2121408"/>
            <a:ext cx="4023360" cy="1298448"/>
          </a:xfrm>
          <a:prstGeom prst="roundRect">
            <a:avLst>
              <a:gd name="adj" fmla="val 4930"/>
            </a:avLst>
          </a:prstGeom>
          <a:solidFill>
            <a:srgbClr val="FFF6EC"/>
          </a:solidFill>
          <a:ln w="12700">
            <a:solidFill>
              <a:srgbClr val="333333"/>
            </a:solidFill>
            <a:prstDash val="solid"/>
          </a:ln>
        </p:spPr>
      </p:sp>
      <p:sp>
        <p:nvSpPr>
          <p:cNvPr id="28" name="Shape 25"/>
          <p:cNvSpPr/>
          <p:nvPr/>
        </p:nvSpPr>
        <p:spPr>
          <a:xfrm>
            <a:off x="7790688" y="2304288"/>
            <a:ext cx="365760" cy="365760"/>
          </a:xfrm>
          <a:prstGeom prst="ellipse">
            <a:avLst/>
          </a:prstGeom>
          <a:solidFill>
            <a:srgbClr val="FF9933"/>
          </a:solidFill>
          <a:ln w="12700">
            <a:solidFill>
              <a:srgbClr val="333333"/>
            </a:solidFill>
            <a:prstDash val="solid"/>
          </a:ln>
        </p:spPr>
      </p:sp>
      <p:sp>
        <p:nvSpPr>
          <p:cNvPr id="29" name="Text 26"/>
          <p:cNvSpPr txBox="1"/>
          <p:nvPr/>
        </p:nvSpPr>
        <p:spPr>
          <a:xfrm>
            <a:off x="7790688" y="2331720"/>
            <a:ext cx="365760" cy="31089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0" name="Text 27"/>
          <p:cNvSpPr txBox="1"/>
          <p:nvPr/>
        </p:nvSpPr>
        <p:spPr>
          <a:xfrm>
            <a:off x="8275320" y="2249424"/>
            <a:ext cx="3200400" cy="658368"/>
          </a:xfrm>
          <a:prstGeom prst="rect">
            <a:avLst/>
          </a:prstGeom>
          <a:noFill/>
          <a:ln/>
        </p:spPr>
        <p:txBody>
          <a:bodyPr wrap="square" lIns="0" tIns="0" rIns="0" bIns="0" rtlCol="0" anchor="ctr"/>
          <a:lstStyle/>
          <a:p>
            <a:pPr indent="0" marL="0">
              <a:lnSpc>
                <a:spcPts val="1300"/>
              </a:lnSpc>
              <a:buNone/>
            </a:pPr>
            <a:r>
              <a:rPr lang="en-US" sz="1000" dirty="0">
                <a:solidFill>
                  <a:srgbClr val="6B4A28"/>
                </a:solidFill>
                <a:latin typeface="Calibri" pitchFamily="34" charset="0"/>
                <a:ea typeface="Calibri" pitchFamily="34" charset="-122"/>
                <a:cs typeface="Calibri" pitchFamily="34" charset="-120"/>
              </a:rPr>
              <a:t>A snapshot cannot separate an industrial fire from a routine gas flare — both are hot, both on industrial land. The discriminator is </a:t>
            </a:r>
            <a:pPr indent="0" marL="0">
              <a:lnSpc>
                <a:spcPts val="1300"/>
              </a:lnSpc>
              <a:buNone/>
            </a:pPr>
            <a:r>
              <a:rPr lang="en-US" sz="1000" b="1" i="1" dirty="0">
                <a:solidFill>
                  <a:srgbClr val="7C4A12"/>
                </a:solidFill>
                <a:latin typeface="Calibri" pitchFamily="34" charset="0"/>
                <a:ea typeface="Calibri" pitchFamily="34" charset="-122"/>
                <a:cs typeface="Calibri" pitchFamily="34" charset="-120"/>
              </a:rPr>
              <a:t>temporal</a:t>
            </a:r>
            <a:pPr indent="0" marL="0">
              <a:lnSpc>
                <a:spcPts val="1300"/>
              </a:lnSpc>
              <a:buNone/>
            </a:pPr>
            <a:r>
              <a:rPr lang="en-US" sz="1000" dirty="0">
                <a:solidFill>
                  <a:srgbClr val="6B4A28"/>
                </a:solidFill>
                <a:latin typeface="Calibri" pitchFamily="34" charset="0"/>
                <a:ea typeface="Calibri" pitchFamily="34" charset="-122"/>
                <a:cs typeface="Calibri" pitchFamily="34" charset="-120"/>
              </a:rPr>
              <a:t>.</a:t>
            </a:r>
            <a:endParaRPr lang="en-US" sz="1000" dirty="0"/>
          </a:p>
        </p:txBody>
      </p:sp>
      <p:sp>
        <p:nvSpPr>
          <p:cNvPr id="31" name="Text 28"/>
          <p:cNvSpPr txBox="1"/>
          <p:nvPr/>
        </p:nvSpPr>
        <p:spPr>
          <a:xfrm>
            <a:off x="8275320" y="2962656"/>
            <a:ext cx="3200400" cy="256032"/>
          </a:xfrm>
          <a:prstGeom prst="rect">
            <a:avLst/>
          </a:prstGeom>
          <a:noFill/>
          <a:ln/>
        </p:spPr>
        <p:txBody>
          <a:bodyPr wrap="square" lIns="0" tIns="0" rIns="0" bIns="0" rtlCol="0" anchor="ctr"/>
          <a:lstStyle/>
          <a:p>
            <a:pPr indent="0" marL="0">
              <a:buNone/>
            </a:pPr>
            <a:r>
              <a:rPr lang="en-US" sz="1100" b="1" dirty="0">
                <a:solidFill>
                  <a:srgbClr val="9A5B0C"/>
                </a:solidFill>
                <a:latin typeface="Calibri" pitchFamily="34" charset="0"/>
                <a:ea typeface="Calibri" pitchFamily="34" charset="-122"/>
                <a:cs typeface="Calibri" pitchFamily="34" charset="-120"/>
              </a:rPr>
              <a:t>We classify locations, not detections.</a:t>
            </a:r>
            <a:endParaRPr lang="en-US" sz="1100" dirty="0"/>
          </a:p>
        </p:txBody>
      </p:sp>
      <p:sp>
        <p:nvSpPr>
          <p:cNvPr id="32" name="Text 29"/>
          <p:cNvSpPr txBox="1"/>
          <p:nvPr/>
        </p:nvSpPr>
        <p:spPr>
          <a:xfrm>
            <a:off x="7589520" y="3547872"/>
            <a:ext cx="4023360" cy="219456"/>
          </a:xfrm>
          <a:prstGeom prst="rect">
            <a:avLst/>
          </a:prstGeom>
          <a:noFill/>
          <a:ln/>
        </p:spPr>
        <p:txBody>
          <a:bodyPr wrap="square" lIns="0" tIns="0" rIns="0" bIns="0" rtlCol="0" anchor="ctr"/>
          <a:lstStyle/>
          <a:p>
            <a:pPr indent="0" marL="0">
              <a:buNone/>
            </a:pPr>
            <a:r>
              <a:rPr lang="en-US" sz="900" b="1" spc="140" kern="0" dirty="0">
                <a:solidFill>
                  <a:srgbClr val="5B6B7F"/>
                </a:solidFill>
                <a:latin typeface="Calibri" pitchFamily="34" charset="0"/>
                <a:ea typeface="Calibri" pitchFamily="34" charset="-122"/>
                <a:cs typeface="Calibri" pitchFamily="34" charset="-120"/>
              </a:rPr>
              <a:t>OUTPUT CLASSES</a:t>
            </a:r>
            <a:endParaRPr lang="en-US" sz="900" dirty="0"/>
          </a:p>
        </p:txBody>
      </p:sp>
      <p:sp>
        <p:nvSpPr>
          <p:cNvPr id="33" name="Shape 30"/>
          <p:cNvSpPr/>
          <p:nvPr/>
        </p:nvSpPr>
        <p:spPr>
          <a:xfrm>
            <a:off x="7589520" y="3803904"/>
            <a:ext cx="1965960" cy="402336"/>
          </a:xfrm>
          <a:prstGeom prst="roundRect">
            <a:avLst>
              <a:gd name="adj" fmla="val 13636"/>
            </a:avLst>
          </a:prstGeom>
          <a:solidFill>
            <a:srgbClr val="F2F5FB"/>
          </a:solidFill>
          <a:ln w="12700">
            <a:solidFill>
              <a:srgbClr val="DCE3EC"/>
            </a:solidFill>
            <a:prstDash val="solid"/>
          </a:ln>
        </p:spPr>
      </p:sp>
      <p:sp>
        <p:nvSpPr>
          <p:cNvPr id="34" name="Shape 31"/>
          <p:cNvSpPr/>
          <p:nvPr/>
        </p:nvSpPr>
        <p:spPr>
          <a:xfrm>
            <a:off x="7717536" y="3950208"/>
            <a:ext cx="128016" cy="128016"/>
          </a:xfrm>
          <a:prstGeom prst="ellipse">
            <a:avLst/>
          </a:prstGeom>
          <a:solidFill>
            <a:srgbClr val="DC2626"/>
          </a:solidFill>
          <a:ln w="12700">
            <a:solidFill>
              <a:srgbClr val="333333"/>
            </a:solidFill>
            <a:prstDash val="solid"/>
          </a:ln>
        </p:spPr>
      </p:sp>
      <p:sp>
        <p:nvSpPr>
          <p:cNvPr id="35" name="Text 32"/>
          <p:cNvSpPr txBox="1"/>
          <p:nvPr/>
        </p:nvSpPr>
        <p:spPr>
          <a:xfrm>
            <a:off x="7918704" y="3877056"/>
            <a:ext cx="1572768" cy="256032"/>
          </a:xfrm>
          <a:prstGeom prst="rect">
            <a:avLst/>
          </a:prstGeom>
          <a:noFill/>
          <a:ln/>
        </p:spPr>
        <p:txBody>
          <a:bodyPr wrap="square" lIns="0" tIns="0" rIns="0" bIns="0" rtlCol="0" anchor="ctr"/>
          <a:lstStyle/>
          <a:p>
            <a:pPr indent="0" marL="0">
              <a:buNone/>
            </a:pPr>
            <a:r>
              <a:rPr lang="en-US" sz="900" b="1" dirty="0">
                <a:solidFill>
                  <a:srgbClr val="1F2937"/>
                </a:solidFill>
                <a:latin typeface="Calibri" pitchFamily="34" charset="0"/>
                <a:ea typeface="Calibri" pitchFamily="34" charset="-122"/>
                <a:cs typeface="Calibri" pitchFamily="34" charset="-120"/>
              </a:rPr>
              <a:t>Industrial fire</a:t>
            </a:r>
            <a:endParaRPr lang="en-US" sz="900" dirty="0"/>
          </a:p>
        </p:txBody>
      </p:sp>
      <p:sp>
        <p:nvSpPr>
          <p:cNvPr id="36" name="Shape 33"/>
          <p:cNvSpPr/>
          <p:nvPr/>
        </p:nvSpPr>
        <p:spPr>
          <a:xfrm>
            <a:off x="9646920" y="3803904"/>
            <a:ext cx="1965960" cy="402336"/>
          </a:xfrm>
          <a:prstGeom prst="roundRect">
            <a:avLst>
              <a:gd name="adj" fmla="val 13636"/>
            </a:avLst>
          </a:prstGeom>
          <a:solidFill>
            <a:srgbClr val="F2F5FB"/>
          </a:solidFill>
          <a:ln w="12700">
            <a:solidFill>
              <a:srgbClr val="DCE3EC"/>
            </a:solidFill>
            <a:prstDash val="solid"/>
          </a:ln>
        </p:spPr>
      </p:sp>
      <p:sp>
        <p:nvSpPr>
          <p:cNvPr id="37" name="Shape 34"/>
          <p:cNvSpPr/>
          <p:nvPr/>
        </p:nvSpPr>
        <p:spPr>
          <a:xfrm>
            <a:off x="9774936" y="3950208"/>
            <a:ext cx="128016" cy="128016"/>
          </a:xfrm>
          <a:prstGeom prst="ellipse">
            <a:avLst/>
          </a:prstGeom>
          <a:solidFill>
            <a:srgbClr val="EA580C"/>
          </a:solidFill>
          <a:ln w="12700">
            <a:solidFill>
              <a:srgbClr val="333333"/>
            </a:solidFill>
            <a:prstDash val="solid"/>
          </a:ln>
        </p:spPr>
      </p:sp>
      <p:sp>
        <p:nvSpPr>
          <p:cNvPr id="38" name="Text 35"/>
          <p:cNvSpPr txBox="1"/>
          <p:nvPr/>
        </p:nvSpPr>
        <p:spPr>
          <a:xfrm>
            <a:off x="9976104" y="3877056"/>
            <a:ext cx="1572768" cy="256032"/>
          </a:xfrm>
          <a:prstGeom prst="rect">
            <a:avLst/>
          </a:prstGeom>
          <a:noFill/>
          <a:ln/>
        </p:spPr>
        <p:txBody>
          <a:bodyPr wrap="square" lIns="0" tIns="0" rIns="0" bIns="0" rtlCol="0" anchor="ctr"/>
          <a:lstStyle/>
          <a:p>
            <a:pPr indent="0" marL="0">
              <a:buNone/>
            </a:pPr>
            <a:r>
              <a:rPr lang="en-US" sz="900" b="1" dirty="0">
                <a:solidFill>
                  <a:srgbClr val="1F2937"/>
                </a:solidFill>
                <a:latin typeface="Calibri" pitchFamily="34" charset="0"/>
                <a:ea typeface="Calibri" pitchFamily="34" charset="-122"/>
                <a:cs typeface="Calibri" pitchFamily="34" charset="-120"/>
              </a:rPr>
              <a:t>Persistent thermal source</a:t>
            </a:r>
            <a:endParaRPr lang="en-US" sz="900" dirty="0"/>
          </a:p>
        </p:txBody>
      </p:sp>
      <p:sp>
        <p:nvSpPr>
          <p:cNvPr id="39" name="Shape 36"/>
          <p:cNvSpPr/>
          <p:nvPr/>
        </p:nvSpPr>
        <p:spPr>
          <a:xfrm>
            <a:off x="7589520" y="4279392"/>
            <a:ext cx="1965960" cy="402336"/>
          </a:xfrm>
          <a:prstGeom prst="roundRect">
            <a:avLst>
              <a:gd name="adj" fmla="val 13636"/>
            </a:avLst>
          </a:prstGeom>
          <a:solidFill>
            <a:srgbClr val="F2F5FB"/>
          </a:solidFill>
          <a:ln w="12700">
            <a:solidFill>
              <a:srgbClr val="DCE3EC"/>
            </a:solidFill>
            <a:prstDash val="solid"/>
          </a:ln>
        </p:spPr>
      </p:sp>
      <p:sp>
        <p:nvSpPr>
          <p:cNvPr id="40" name="Shape 37"/>
          <p:cNvSpPr/>
          <p:nvPr/>
        </p:nvSpPr>
        <p:spPr>
          <a:xfrm>
            <a:off x="7717536" y="4425696"/>
            <a:ext cx="128016" cy="128016"/>
          </a:xfrm>
          <a:prstGeom prst="ellipse">
            <a:avLst/>
          </a:prstGeom>
          <a:solidFill>
            <a:srgbClr val="16A34A"/>
          </a:solidFill>
          <a:ln w="12700">
            <a:solidFill>
              <a:srgbClr val="333333"/>
            </a:solidFill>
            <a:prstDash val="solid"/>
          </a:ln>
        </p:spPr>
      </p:sp>
      <p:sp>
        <p:nvSpPr>
          <p:cNvPr id="41" name="Text 38"/>
          <p:cNvSpPr txBox="1"/>
          <p:nvPr/>
        </p:nvSpPr>
        <p:spPr>
          <a:xfrm>
            <a:off x="7918704" y="4352544"/>
            <a:ext cx="1572768" cy="256032"/>
          </a:xfrm>
          <a:prstGeom prst="rect">
            <a:avLst/>
          </a:prstGeom>
          <a:noFill/>
          <a:ln/>
        </p:spPr>
        <p:txBody>
          <a:bodyPr wrap="square" lIns="0" tIns="0" rIns="0" bIns="0" rtlCol="0" anchor="ctr"/>
          <a:lstStyle/>
          <a:p>
            <a:pPr indent="0" marL="0">
              <a:buNone/>
            </a:pPr>
            <a:r>
              <a:rPr lang="en-US" sz="900" b="1" dirty="0">
                <a:solidFill>
                  <a:srgbClr val="1F2937"/>
                </a:solidFill>
                <a:latin typeface="Calibri" pitchFamily="34" charset="0"/>
                <a:ea typeface="Calibri" pitchFamily="34" charset="-122"/>
                <a:cs typeface="Calibri" pitchFamily="34" charset="-120"/>
              </a:rPr>
              <a:t>Vegetation fire</a:t>
            </a:r>
            <a:endParaRPr lang="en-US" sz="900" dirty="0"/>
          </a:p>
        </p:txBody>
      </p:sp>
      <p:sp>
        <p:nvSpPr>
          <p:cNvPr id="42" name="Shape 39"/>
          <p:cNvSpPr/>
          <p:nvPr/>
        </p:nvSpPr>
        <p:spPr>
          <a:xfrm>
            <a:off x="9646920" y="4279392"/>
            <a:ext cx="1965960" cy="402336"/>
          </a:xfrm>
          <a:prstGeom prst="roundRect">
            <a:avLst>
              <a:gd name="adj" fmla="val 13636"/>
            </a:avLst>
          </a:prstGeom>
          <a:solidFill>
            <a:srgbClr val="F2F5FB"/>
          </a:solidFill>
          <a:ln w="12700">
            <a:solidFill>
              <a:srgbClr val="DCE3EC"/>
            </a:solidFill>
            <a:prstDash val="solid"/>
          </a:ln>
        </p:spPr>
      </p:sp>
      <p:sp>
        <p:nvSpPr>
          <p:cNvPr id="43" name="Shape 40"/>
          <p:cNvSpPr/>
          <p:nvPr/>
        </p:nvSpPr>
        <p:spPr>
          <a:xfrm>
            <a:off x="9774936" y="4425696"/>
            <a:ext cx="128016" cy="128016"/>
          </a:xfrm>
          <a:prstGeom prst="ellipse">
            <a:avLst/>
          </a:prstGeom>
          <a:solidFill>
            <a:srgbClr val="94A3B8"/>
          </a:solidFill>
          <a:ln w="12700">
            <a:solidFill>
              <a:srgbClr val="333333"/>
            </a:solidFill>
            <a:prstDash val="solid"/>
          </a:ln>
        </p:spPr>
      </p:sp>
      <p:sp>
        <p:nvSpPr>
          <p:cNvPr id="44" name="Text 41"/>
          <p:cNvSpPr txBox="1"/>
          <p:nvPr/>
        </p:nvSpPr>
        <p:spPr>
          <a:xfrm>
            <a:off x="9976104" y="4352544"/>
            <a:ext cx="1572768" cy="256032"/>
          </a:xfrm>
          <a:prstGeom prst="rect">
            <a:avLst/>
          </a:prstGeom>
          <a:noFill/>
          <a:ln/>
        </p:spPr>
        <p:txBody>
          <a:bodyPr wrap="square" lIns="0" tIns="0" rIns="0" bIns="0" rtlCol="0" anchor="ctr"/>
          <a:lstStyle/>
          <a:p>
            <a:pPr indent="0" marL="0">
              <a:buNone/>
            </a:pPr>
            <a:r>
              <a:rPr lang="en-US" sz="900" b="1" dirty="0">
                <a:solidFill>
                  <a:srgbClr val="1F2937"/>
                </a:solidFill>
                <a:latin typeface="Calibri" pitchFamily="34" charset="0"/>
                <a:ea typeface="Calibri" pitchFamily="34" charset="-122"/>
                <a:cs typeface="Calibri" pitchFamily="34" charset="-120"/>
              </a:rPr>
              <a:t>Other / uncertain</a:t>
            </a:r>
            <a:endParaRPr lang="en-US" sz="900" dirty="0"/>
          </a:p>
        </p:txBody>
      </p:sp>
      <p:sp>
        <p:nvSpPr>
          <p:cNvPr id="45" name="Shape 42"/>
          <p:cNvSpPr/>
          <p:nvPr/>
        </p:nvSpPr>
        <p:spPr>
          <a:xfrm>
            <a:off x="7589520" y="4864608"/>
            <a:ext cx="1280160" cy="658368"/>
          </a:xfrm>
          <a:prstGeom prst="roundRect">
            <a:avLst>
              <a:gd name="adj" fmla="val 8333"/>
            </a:avLst>
          </a:prstGeom>
          <a:solidFill>
            <a:srgbClr val="FFFFFF"/>
          </a:solidFill>
          <a:ln w="12700">
            <a:solidFill>
              <a:srgbClr val="DCE3EC"/>
            </a:solidFill>
            <a:prstDash val="solid"/>
          </a:ln>
        </p:spPr>
      </p:sp>
      <p:sp>
        <p:nvSpPr>
          <p:cNvPr id="46" name="Text 43"/>
          <p:cNvSpPr txBox="1"/>
          <p:nvPr/>
        </p:nvSpPr>
        <p:spPr>
          <a:xfrm>
            <a:off x="7589520" y="4919472"/>
            <a:ext cx="1280160" cy="292608"/>
          </a:xfrm>
          <a:prstGeom prst="rect">
            <a:avLst/>
          </a:prstGeom>
          <a:noFill/>
          <a:ln/>
        </p:spPr>
        <p:txBody>
          <a:bodyPr wrap="square" lIns="0" tIns="0" rIns="0" bIns="0" rtlCol="0" anchor="ctr"/>
          <a:lstStyle/>
          <a:p>
            <a:pPr algn="ctr" indent="0" marL="0">
              <a:buNone/>
            </a:pPr>
            <a:r>
              <a:rPr lang="en-US" sz="1700" b="1" dirty="0">
                <a:solidFill>
                  <a:srgbClr val="FF9933"/>
                </a:solidFill>
                <a:latin typeface="Calibri" pitchFamily="34" charset="0"/>
                <a:ea typeface="Calibri" pitchFamily="34" charset="-122"/>
                <a:cs typeface="Calibri" pitchFamily="34" charset="-120"/>
              </a:rPr>
              <a:t>106</a:t>
            </a:r>
            <a:endParaRPr lang="en-US" sz="1700" dirty="0"/>
          </a:p>
        </p:txBody>
      </p:sp>
      <p:sp>
        <p:nvSpPr>
          <p:cNvPr id="47" name="Text 44"/>
          <p:cNvSpPr txBox="1"/>
          <p:nvPr/>
        </p:nvSpPr>
        <p:spPr>
          <a:xfrm>
            <a:off x="7626096" y="5230368"/>
            <a:ext cx="1207008" cy="219456"/>
          </a:xfrm>
          <a:prstGeom prst="rect">
            <a:avLst/>
          </a:prstGeom>
          <a:noFill/>
          <a:ln/>
        </p:spPr>
        <p:txBody>
          <a:bodyPr wrap="square" lIns="0" tIns="0" rIns="0" bIns="0" rtlCol="0" anchor="ctr"/>
          <a:lstStyle/>
          <a:p>
            <a:pPr algn="ctr" indent="0" marL="0">
              <a:buNone/>
            </a:pPr>
            <a:r>
              <a:rPr lang="en-US" sz="750" dirty="0">
                <a:solidFill>
                  <a:srgbClr val="5B6B7F"/>
                </a:solidFill>
                <a:latin typeface="Calibri" pitchFamily="34" charset="0"/>
                <a:ea typeface="Calibri" pitchFamily="34" charset="-122"/>
                <a:cs typeface="Calibri" pitchFamily="34" charset="-120"/>
              </a:rPr>
              <a:t>sites classified</a:t>
            </a:r>
            <a:endParaRPr lang="en-US" sz="750" dirty="0"/>
          </a:p>
        </p:txBody>
      </p:sp>
      <p:sp>
        <p:nvSpPr>
          <p:cNvPr id="48" name="Shape 45"/>
          <p:cNvSpPr/>
          <p:nvPr/>
        </p:nvSpPr>
        <p:spPr>
          <a:xfrm>
            <a:off x="8961120" y="4864608"/>
            <a:ext cx="1280160" cy="658368"/>
          </a:xfrm>
          <a:prstGeom prst="roundRect">
            <a:avLst>
              <a:gd name="adj" fmla="val 8333"/>
            </a:avLst>
          </a:prstGeom>
          <a:solidFill>
            <a:srgbClr val="FFFFFF"/>
          </a:solidFill>
          <a:ln w="12700">
            <a:solidFill>
              <a:srgbClr val="DCE3EC"/>
            </a:solidFill>
            <a:prstDash val="solid"/>
          </a:ln>
        </p:spPr>
      </p:sp>
      <p:sp>
        <p:nvSpPr>
          <p:cNvPr id="49" name="Text 46"/>
          <p:cNvSpPr txBox="1"/>
          <p:nvPr/>
        </p:nvSpPr>
        <p:spPr>
          <a:xfrm>
            <a:off x="8961120" y="4919472"/>
            <a:ext cx="1280160" cy="292608"/>
          </a:xfrm>
          <a:prstGeom prst="rect">
            <a:avLst/>
          </a:prstGeom>
          <a:noFill/>
          <a:ln/>
        </p:spPr>
        <p:txBody>
          <a:bodyPr wrap="square" lIns="0" tIns="0" rIns="0" bIns="0" rtlCol="0" anchor="ctr"/>
          <a:lstStyle/>
          <a:p>
            <a:pPr algn="ctr" indent="0" marL="0">
              <a:buNone/>
            </a:pPr>
            <a:r>
              <a:rPr lang="en-US" sz="1700" b="1" dirty="0">
                <a:solidFill>
                  <a:srgbClr val="FF9933"/>
                </a:solidFill>
                <a:latin typeface="Calibri" pitchFamily="34" charset="0"/>
                <a:ea typeface="Calibri" pitchFamily="34" charset="-122"/>
                <a:cs typeface="Calibri" pitchFamily="34" charset="-120"/>
              </a:rPr>
              <a:t>3,595</a:t>
            </a:r>
            <a:endParaRPr lang="en-US" sz="1700" dirty="0"/>
          </a:p>
        </p:txBody>
      </p:sp>
      <p:sp>
        <p:nvSpPr>
          <p:cNvPr id="50" name="Text 47"/>
          <p:cNvSpPr txBox="1"/>
          <p:nvPr/>
        </p:nvSpPr>
        <p:spPr>
          <a:xfrm>
            <a:off x="8997696" y="5230368"/>
            <a:ext cx="1207008" cy="219456"/>
          </a:xfrm>
          <a:prstGeom prst="rect">
            <a:avLst/>
          </a:prstGeom>
          <a:noFill/>
          <a:ln/>
        </p:spPr>
        <p:txBody>
          <a:bodyPr wrap="square" lIns="0" tIns="0" rIns="0" bIns="0" rtlCol="0" anchor="ctr"/>
          <a:lstStyle/>
          <a:p>
            <a:pPr algn="ctr" indent="0" marL="0">
              <a:buNone/>
            </a:pPr>
            <a:r>
              <a:rPr lang="en-US" sz="750" dirty="0">
                <a:solidFill>
                  <a:srgbClr val="5B6B7F"/>
                </a:solidFill>
                <a:latin typeface="Calibri" pitchFamily="34" charset="0"/>
                <a:ea typeface="Calibri" pitchFamily="34" charset="-122"/>
                <a:cs typeface="Calibri" pitchFamily="34" charset="-120"/>
              </a:rPr>
              <a:t>OSM features</a:t>
            </a:r>
            <a:endParaRPr lang="en-US" sz="750" dirty="0"/>
          </a:p>
        </p:txBody>
      </p:sp>
      <p:sp>
        <p:nvSpPr>
          <p:cNvPr id="51" name="Shape 48"/>
          <p:cNvSpPr/>
          <p:nvPr/>
        </p:nvSpPr>
        <p:spPr>
          <a:xfrm>
            <a:off x="10332720" y="4864608"/>
            <a:ext cx="1280160" cy="658368"/>
          </a:xfrm>
          <a:prstGeom prst="roundRect">
            <a:avLst>
              <a:gd name="adj" fmla="val 8333"/>
            </a:avLst>
          </a:prstGeom>
          <a:solidFill>
            <a:srgbClr val="FFFFFF"/>
          </a:solidFill>
          <a:ln w="12700">
            <a:solidFill>
              <a:srgbClr val="DCE3EC"/>
            </a:solidFill>
            <a:prstDash val="solid"/>
          </a:ln>
        </p:spPr>
      </p:sp>
      <p:sp>
        <p:nvSpPr>
          <p:cNvPr id="52" name="Text 49"/>
          <p:cNvSpPr txBox="1"/>
          <p:nvPr/>
        </p:nvSpPr>
        <p:spPr>
          <a:xfrm>
            <a:off x="10332720" y="4919472"/>
            <a:ext cx="1280160" cy="292608"/>
          </a:xfrm>
          <a:prstGeom prst="rect">
            <a:avLst/>
          </a:prstGeom>
          <a:noFill/>
          <a:ln/>
        </p:spPr>
        <p:txBody>
          <a:bodyPr wrap="square" lIns="0" tIns="0" rIns="0" bIns="0" rtlCol="0" anchor="ctr"/>
          <a:lstStyle/>
          <a:p>
            <a:pPr algn="ctr" indent="0" marL="0">
              <a:buNone/>
            </a:pPr>
            <a:r>
              <a:rPr lang="en-US" sz="1700" b="1" dirty="0">
                <a:solidFill>
                  <a:srgbClr val="FF9933"/>
                </a:solidFill>
                <a:latin typeface="Calibri" pitchFamily="34" charset="0"/>
                <a:ea typeface="Calibri" pitchFamily="34" charset="-122"/>
                <a:cs typeface="Calibri" pitchFamily="34" charset="-120"/>
              </a:rPr>
              <a:t>100%</a:t>
            </a:r>
            <a:endParaRPr lang="en-US" sz="1700" dirty="0"/>
          </a:p>
        </p:txBody>
      </p:sp>
      <p:sp>
        <p:nvSpPr>
          <p:cNvPr id="53" name="Text 50"/>
          <p:cNvSpPr txBox="1"/>
          <p:nvPr/>
        </p:nvSpPr>
        <p:spPr>
          <a:xfrm>
            <a:off x="10369296" y="5230368"/>
            <a:ext cx="1207008" cy="219456"/>
          </a:xfrm>
          <a:prstGeom prst="rect">
            <a:avLst/>
          </a:prstGeom>
          <a:noFill/>
          <a:ln/>
        </p:spPr>
        <p:txBody>
          <a:bodyPr wrap="square" lIns="0" tIns="0" rIns="0" bIns="0" rtlCol="0" anchor="ctr"/>
          <a:lstStyle/>
          <a:p>
            <a:pPr algn="ctr" indent="0" marL="0">
              <a:buNone/>
            </a:pPr>
            <a:r>
              <a:rPr lang="en-US" sz="750" dirty="0">
                <a:solidFill>
                  <a:srgbClr val="5B6B7F"/>
                </a:solidFill>
                <a:latin typeface="Calibri" pitchFamily="34" charset="0"/>
                <a:ea typeface="Calibri" pitchFamily="34" charset="-122"/>
                <a:cs typeface="Calibri" pitchFamily="34" charset="-120"/>
              </a:rPr>
              <a:t>land cover resolved</a:t>
            </a:r>
            <a:endParaRPr lang="en-US" sz="750" dirty="0"/>
          </a:p>
        </p:txBody>
      </p:sp>
      <p:sp>
        <p:nvSpPr>
          <p:cNvPr id="54" name="Shape 51"/>
          <p:cNvSpPr/>
          <p:nvPr/>
        </p:nvSpPr>
        <p:spPr>
          <a:xfrm>
            <a:off x="548640" y="5943600"/>
            <a:ext cx="11064240" cy="548640"/>
          </a:xfrm>
          <a:prstGeom prst="roundRect">
            <a:avLst>
              <a:gd name="adj" fmla="val 11667"/>
            </a:avLst>
          </a:prstGeom>
          <a:solidFill>
            <a:srgbClr val="F2F5FB"/>
          </a:solidFill>
          <a:ln w="12700">
            <a:solidFill>
              <a:srgbClr val="333333"/>
            </a:solidFill>
            <a:prstDash val="solid"/>
          </a:ln>
        </p:spPr>
      </p:sp>
      <p:sp>
        <p:nvSpPr>
          <p:cNvPr id="55" name="Text 52"/>
          <p:cNvSpPr txBox="1"/>
          <p:nvPr/>
        </p:nvSpPr>
        <p:spPr>
          <a:xfrm>
            <a:off x="868680" y="6053328"/>
            <a:ext cx="10515600" cy="347472"/>
          </a:xfrm>
          <a:prstGeom prst="rect">
            <a:avLst/>
          </a:prstGeom>
          <a:noFill/>
          <a:ln/>
        </p:spPr>
        <p:txBody>
          <a:bodyPr wrap="square" lIns="0" tIns="0" rIns="0" bIns="0" rtlCol="0" anchor="ctr"/>
          <a:lstStyle/>
          <a:p>
            <a:pPr indent="0" marL="0">
              <a:buNone/>
            </a:pPr>
            <a:r>
              <a:rPr lang="en-US" sz="1050" b="1" dirty="0">
                <a:solidFill>
                  <a:srgbClr val="13286E"/>
                </a:solidFill>
                <a:latin typeface="Calibri" pitchFamily="34" charset="0"/>
                <a:ea typeface="Calibri" pitchFamily="34" charset="-122"/>
                <a:cs typeface="Calibri" pitchFamily="34" charset="-120"/>
              </a:rPr>
              <a:t>Stated honestly:  </a:t>
            </a:r>
            <a:pPr indent="0" marL="0">
              <a:buNone/>
            </a:pPr>
            <a:r>
              <a:rPr lang="en-US" sz="1050" dirty="0">
                <a:solidFill>
                  <a:srgbClr val="1F2937"/>
                </a:solidFill>
                <a:latin typeface="Calibri" pitchFamily="34" charset="0"/>
                <a:ea typeface="Calibri" pitchFamily="34" charset="-122"/>
                <a:cs typeface="Calibri" pitchFamily="34" charset="-120"/>
              </a:rPr>
              <a:t>v1 classification uses a documented, transparent rule set. The machine learning model follows the labelled dataset. No accuracy figure is claimed until a held-out test set exists.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AgniDrishti - Technical Slide</dc:title>
  <dc:subject>PptxGenJS Presentation</dc:subject>
  <dc:creator>Team AsyncMavericks_SIH0162</dc:creator>
  <cp:lastModifiedBy>Team AsyncMavericks_SIH0162</cp:lastModifiedBy>
  <cp:revision>1</cp:revision>
  <dcterms:created xsi:type="dcterms:W3CDTF">2026-09-15T16:08:38Z</dcterms:created>
  <dcterms:modified xsi:type="dcterms:W3CDTF">2026-09-15T16:08:38Z</dcterms:modified>
</cp:coreProperties>
</file>