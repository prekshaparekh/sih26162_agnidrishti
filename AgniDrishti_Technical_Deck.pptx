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Good morning. Our problem statement is 26162, from NTRO.
Start with the one line that frames everything: NASA's satellites already tell us WHERE the Earth is hot. Every few hours a fresh set of hot pixels appears over India. What they do not tell us is WHY that pixel is hot.
AgniDrishti is the layer that answers the second question.
Don't rush this slide — let the sentence land,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[0:35-1:20]
A thermal anomaly is not a fire alert. The same hot pixel could be any of four things, and they need completely different responses.
A persistent thermal source - a refinery flare or a furnace that has burned routinely for years. That is not an incident; it is noise, and it should be filtered out.
An industrial fire - an unplanned event on industrial land. That is the one that matters, and it needs escalating.
A vegetation fire - crop residue or scrub. Real, but not an industrial incident, and a different agency's problem.
Or other/uncertain - a landfill, an unmapped site, context too thin to call. That goes to a human.
These are the four classes the system outputs. Nothing else.
KEY BEAT - deliver slowly: to the instrument all four look identical. And the persistent sources fire the same alert every single day, so an operator stops reading alerts within a week.
So the gap is NOT detection. NASA has already solved detection. The gap is interpretation - and that is the gap we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[1:20-2:10]
This is the heart of the project, so take it slowly.
Look at the top three rows. A gas flare and an industrial fire are IDENTICAL: both hot, both on built-up land, both next to a mapped factory. Any classifier looking at one snapshot has nothing to separate them.
The bottom two rows are where they diverge, and they are both temporal. The flare recurs — in our live data, 48 days out of 90. The fire is episodic — one to three days, then gone.
So the design decision follows: we classify LOCATIONS, not individual detections. 1,522 raw detections collapse into 556 sites, and those sites are cut into 663 distinct burning episodes wherever the location falls quiet for more than ten days.
If asked why episodes: site statistics alone can't tell a furnace that ran two months from a handful of unrelated one-day fires — both give the same recurrence count. Only the episode layer says 'the longest continuous burn here lasted 73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[2:10-3:10]
Five stages. Move fast across the top — one sentence each.
INGEST: NASA FIRMS VIIRS at 375 metres. We merge all three platforms — Suomi-NPP, NOAA-20, NOAA-21 — because they cross at different local times, which materially increases observations per day.
CLUSTER: detections snap to a 0.005-degree grid so history accumulates per location, then each location's timeline is cut into episodes wherever it goes quiet for more than ten days.
ENRICH: distance to the nearest mapped industrial feature from OpenStreetMap — 3,595 features cached for Gujarat — and the land cover underneath, from 33,488 land-use polygons. R-tree indexes keep that linear, not quadratic.
CLASSIFY: four classes, always with the evidence attached.
VISUALISE: Django server-rendered, Leaflet map, Plotly analytics.
THEN STOP on the orange box — this is the line judges remember: distance to industry is a FEATURE, never a LABEL. The obvious shortcut is 'it's near a factory, call it industrial'. That is circular: the model would just be replaying a rule we wrote ourselves, and its reported accuracy would be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[3:10-4:10]
This is not a mock-up. These are the numbers in the database right now, from 90 days of live NASA data over Gujarat.
1,522 detections, collapsed into 556 sites, cut into 663 burning episodes.
POINT AT THE ORANGE BOX — this is the value proposition as a number: of 556 sites, 429 are vegetation fires and 113 are uncertain. Only 14 are industrial. An industrial safety operator reads 14 rows instead of 556. That reduction IS the product.
And every label carries its evidence. Site 2 at Hazira: the system says persistent thermal source, high confidence, and shows why — recurring on 48 of 90 days, a single continuous episode of 73 days that is still ongoing, 489 metres from a feature OpenStreetMap tags as ArcelorMittal Nippon Steel.
IMPORTANT NUANCE if asked: we did not predict 'steel plant'. The model predicts one of four classes. The facility name is retrieved from OpenStreetMap and shown as supporting context. The difference between a prediction and a database lookup is exactly the kind of claim that should not be blurred.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[4:10-5:00]
Two things to be straight about, and then I'll close.
First: version one is a documented, transparent rule set — it is not a trained model, and we don't present it as one. We claim no accuracy figure, because no labelled test set exists yet. Judges see inflated accuracy numbers constantly; saying we haven't measured it yet, and why, is more credible than a number we cannot defend.
Second: the rules are built to be replaced. The classifier sits behind a single Protocol, and the same feature vector feeds both versions — so the Random Forest drops in without touching ingestion, the data model, or the interface. The labelling work we do now stays valid.
CLOSING LINE — deliver to the room, not the screen:
Satellites already report where the Earth is hot. AgniDrishti reports what is burning, how urgent it is, and why — and it shows its evidence every time. Thank you.
(If asked why Random Forest and not deep learning: about twelve structured geospatial features over a few hundred examples. A Random Forest is more accurate than a neural network in that regime AND it can show which feature drove each decision — which an operator acting on an alert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73161" y="1332281"/>
            <a:ext cx="261518" cy="261518"/>
          </a:xfrm>
          <a:prstGeom prst="ellipse">
            <a:avLst/>
          </a:prstGeom>
          <a:solidFill>
            <a:srgbClr val="16A34A">
              <a:alpha val="18000"/>
            </a:srgbClr>
          </a:solidFill>
          <a:ln/>
        </p:spPr>
      </p:sp>
      <p:sp>
        <p:nvSpPr>
          <p:cNvPr id="3" name="Shape 1"/>
          <p:cNvSpPr/>
          <p:nvPr/>
        </p:nvSpPr>
        <p:spPr>
          <a:xfrm>
            <a:off x="8453628" y="1412748"/>
            <a:ext cx="100584" cy="100584"/>
          </a:xfrm>
          <a:prstGeom prst="ellipse">
            <a:avLst/>
          </a:prstGeom>
          <a:solidFill>
            <a:srgbClr val="16A34A"/>
          </a:solidFill>
          <a:ln/>
        </p:spPr>
      </p:sp>
      <p:sp>
        <p:nvSpPr>
          <p:cNvPr id="4" name="Shape 2"/>
          <p:cNvSpPr/>
          <p:nvPr/>
        </p:nvSpPr>
        <p:spPr>
          <a:xfrm>
            <a:off x="9190817" y="1692737"/>
            <a:ext cx="180685" cy="180685"/>
          </a:xfrm>
          <a:prstGeom prst="ellipse">
            <a:avLst/>
          </a:prstGeom>
          <a:solidFill>
            <a:srgbClr val="16A34A">
              <a:alpha val="18000"/>
            </a:srgbClr>
          </a:solidFill>
          <a:ln/>
        </p:spPr>
      </p:sp>
      <p:sp>
        <p:nvSpPr>
          <p:cNvPr id="5" name="Shape 3"/>
          <p:cNvSpPr/>
          <p:nvPr/>
        </p:nvSpPr>
        <p:spPr>
          <a:xfrm>
            <a:off x="9246413" y="1748333"/>
            <a:ext cx="69494" cy="69494"/>
          </a:xfrm>
          <a:prstGeom prst="ellipse">
            <a:avLst/>
          </a:prstGeom>
          <a:solidFill>
            <a:srgbClr val="16A34A"/>
          </a:solidFill>
          <a:ln/>
        </p:spPr>
      </p:sp>
      <p:sp>
        <p:nvSpPr>
          <p:cNvPr id="6" name="Shape 4"/>
          <p:cNvSpPr/>
          <p:nvPr/>
        </p:nvSpPr>
        <p:spPr>
          <a:xfrm>
            <a:off x="7914132" y="2061972"/>
            <a:ext cx="356616" cy="356616"/>
          </a:xfrm>
          <a:prstGeom prst="ellipse">
            <a:avLst/>
          </a:prstGeom>
          <a:solidFill>
            <a:srgbClr val="EA580C">
              <a:alpha val="18000"/>
            </a:srgbClr>
          </a:solidFill>
          <a:ln/>
        </p:spPr>
      </p:sp>
      <p:sp>
        <p:nvSpPr>
          <p:cNvPr id="7" name="Shape 5"/>
          <p:cNvSpPr/>
          <p:nvPr/>
        </p:nvSpPr>
        <p:spPr>
          <a:xfrm>
            <a:off x="8023860" y="2171700"/>
            <a:ext cx="137160" cy="137160"/>
          </a:xfrm>
          <a:prstGeom prst="ellipse">
            <a:avLst/>
          </a:prstGeom>
          <a:solidFill>
            <a:srgbClr val="EA580C"/>
          </a:solidFill>
          <a:ln/>
        </p:spPr>
      </p:sp>
      <p:sp>
        <p:nvSpPr>
          <p:cNvPr id="8" name="Shape 6"/>
          <p:cNvSpPr/>
          <p:nvPr/>
        </p:nvSpPr>
        <p:spPr>
          <a:xfrm>
            <a:off x="8788116" y="2295876"/>
            <a:ext cx="199705" cy="199705"/>
          </a:xfrm>
          <a:prstGeom prst="ellipse">
            <a:avLst/>
          </a:prstGeom>
          <a:solidFill>
            <a:srgbClr val="9CA3AF">
              <a:alpha val="18000"/>
            </a:srgbClr>
          </a:solidFill>
          <a:ln/>
        </p:spPr>
      </p:sp>
      <p:sp>
        <p:nvSpPr>
          <p:cNvPr id="9" name="Shape 7"/>
          <p:cNvSpPr/>
          <p:nvPr/>
        </p:nvSpPr>
        <p:spPr>
          <a:xfrm>
            <a:off x="8849563" y="2357323"/>
            <a:ext cx="76810" cy="76810"/>
          </a:xfrm>
          <a:prstGeom prst="ellipse">
            <a:avLst/>
          </a:prstGeom>
          <a:solidFill>
            <a:srgbClr val="9CA3AF"/>
          </a:solidFill>
          <a:ln/>
        </p:spPr>
      </p:sp>
      <p:sp>
        <p:nvSpPr>
          <p:cNvPr id="10" name="Shape 8"/>
          <p:cNvSpPr/>
          <p:nvPr/>
        </p:nvSpPr>
        <p:spPr>
          <a:xfrm>
            <a:off x="9592056" y="1984248"/>
            <a:ext cx="237744" cy="237744"/>
          </a:xfrm>
          <a:prstGeom prst="ellipse">
            <a:avLst/>
          </a:prstGeom>
          <a:solidFill>
            <a:srgbClr val="16A34A">
              <a:alpha val="18000"/>
            </a:srgbClr>
          </a:solidFill>
          <a:ln/>
        </p:spPr>
      </p:sp>
      <p:sp>
        <p:nvSpPr>
          <p:cNvPr id="11" name="Shape 9"/>
          <p:cNvSpPr/>
          <p:nvPr/>
        </p:nvSpPr>
        <p:spPr>
          <a:xfrm>
            <a:off x="9665208" y="2057400"/>
            <a:ext cx="91440" cy="91440"/>
          </a:xfrm>
          <a:prstGeom prst="ellipse">
            <a:avLst/>
          </a:prstGeom>
          <a:solidFill>
            <a:srgbClr val="16A34A"/>
          </a:solidFill>
          <a:ln/>
        </p:spPr>
      </p:sp>
      <p:sp>
        <p:nvSpPr>
          <p:cNvPr id="12" name="Shape 10"/>
          <p:cNvSpPr/>
          <p:nvPr/>
        </p:nvSpPr>
        <p:spPr>
          <a:xfrm>
            <a:off x="10295230" y="2431390"/>
            <a:ext cx="166421" cy="166421"/>
          </a:xfrm>
          <a:prstGeom prst="ellipse">
            <a:avLst/>
          </a:prstGeom>
          <a:solidFill>
            <a:srgbClr val="16A34A">
              <a:alpha val="18000"/>
            </a:srgbClr>
          </a:solidFill>
          <a:ln/>
        </p:spPr>
      </p:sp>
      <p:sp>
        <p:nvSpPr>
          <p:cNvPr id="13" name="Shape 11"/>
          <p:cNvSpPr/>
          <p:nvPr/>
        </p:nvSpPr>
        <p:spPr>
          <a:xfrm>
            <a:off x="10346436" y="2482596"/>
            <a:ext cx="64008" cy="64008"/>
          </a:xfrm>
          <a:prstGeom prst="ellipse">
            <a:avLst/>
          </a:prstGeom>
          <a:solidFill>
            <a:srgbClr val="16A34A"/>
          </a:solidFill>
          <a:ln/>
        </p:spPr>
      </p:sp>
      <p:sp>
        <p:nvSpPr>
          <p:cNvPr id="14" name="Shape 12"/>
          <p:cNvSpPr/>
          <p:nvPr/>
        </p:nvSpPr>
        <p:spPr>
          <a:xfrm>
            <a:off x="7958023" y="2700223"/>
            <a:ext cx="451714" cy="451714"/>
          </a:xfrm>
          <a:prstGeom prst="ellipse">
            <a:avLst/>
          </a:prstGeom>
          <a:solidFill>
            <a:srgbClr val="EA580C">
              <a:alpha val="18000"/>
            </a:srgbClr>
          </a:solidFill>
          <a:ln/>
        </p:spPr>
      </p:sp>
      <p:sp>
        <p:nvSpPr>
          <p:cNvPr id="15" name="Shape 13"/>
          <p:cNvSpPr/>
          <p:nvPr/>
        </p:nvSpPr>
        <p:spPr>
          <a:xfrm>
            <a:off x="8097012" y="2839212"/>
            <a:ext cx="173736" cy="173736"/>
          </a:xfrm>
          <a:prstGeom prst="ellipse">
            <a:avLst/>
          </a:prstGeom>
          <a:solidFill>
            <a:srgbClr val="EA580C"/>
          </a:solidFill>
          <a:ln/>
        </p:spPr>
      </p:sp>
      <p:sp>
        <p:nvSpPr>
          <p:cNvPr id="16" name="Shape 14"/>
          <p:cNvSpPr/>
          <p:nvPr/>
        </p:nvSpPr>
        <p:spPr>
          <a:xfrm>
            <a:off x="8589874" y="2984602"/>
            <a:ext cx="285293" cy="285293"/>
          </a:xfrm>
          <a:prstGeom prst="ellipse">
            <a:avLst/>
          </a:prstGeom>
          <a:solidFill>
            <a:srgbClr val="DC2626">
              <a:alpha val="18000"/>
            </a:srgbClr>
          </a:solidFill>
          <a:ln/>
        </p:spPr>
      </p:sp>
      <p:sp>
        <p:nvSpPr>
          <p:cNvPr id="17" name="Shape 15"/>
          <p:cNvSpPr/>
          <p:nvPr/>
        </p:nvSpPr>
        <p:spPr>
          <a:xfrm>
            <a:off x="8677656" y="3072384"/>
            <a:ext cx="109728" cy="109728"/>
          </a:xfrm>
          <a:prstGeom prst="ellipse">
            <a:avLst/>
          </a:prstGeom>
          <a:solidFill>
            <a:srgbClr val="DC2626"/>
          </a:solidFill>
          <a:ln/>
        </p:spPr>
      </p:sp>
      <p:sp>
        <p:nvSpPr>
          <p:cNvPr id="18" name="Shape 16"/>
          <p:cNvSpPr/>
          <p:nvPr/>
        </p:nvSpPr>
        <p:spPr>
          <a:xfrm>
            <a:off x="9323222" y="2693822"/>
            <a:ext cx="190195" cy="190195"/>
          </a:xfrm>
          <a:prstGeom prst="ellipse">
            <a:avLst/>
          </a:prstGeom>
          <a:solidFill>
            <a:srgbClr val="16A34A">
              <a:alpha val="18000"/>
            </a:srgbClr>
          </a:solidFill>
          <a:ln/>
        </p:spPr>
      </p:sp>
      <p:sp>
        <p:nvSpPr>
          <p:cNvPr id="19" name="Shape 17"/>
          <p:cNvSpPr/>
          <p:nvPr/>
        </p:nvSpPr>
        <p:spPr>
          <a:xfrm>
            <a:off x="9381744" y="2752344"/>
            <a:ext cx="73152" cy="73152"/>
          </a:xfrm>
          <a:prstGeom prst="ellipse">
            <a:avLst/>
          </a:prstGeom>
          <a:solidFill>
            <a:srgbClr val="16A34A"/>
          </a:solidFill>
          <a:ln/>
        </p:spPr>
      </p:sp>
      <p:sp>
        <p:nvSpPr>
          <p:cNvPr id="20" name="Shape 18"/>
          <p:cNvSpPr/>
          <p:nvPr/>
        </p:nvSpPr>
        <p:spPr>
          <a:xfrm>
            <a:off x="9990003" y="3132003"/>
            <a:ext cx="228234" cy="228234"/>
          </a:xfrm>
          <a:prstGeom prst="ellipse">
            <a:avLst/>
          </a:prstGeom>
          <a:solidFill>
            <a:srgbClr val="16A34A">
              <a:alpha val="18000"/>
            </a:srgbClr>
          </a:solidFill>
          <a:ln/>
        </p:spPr>
      </p:sp>
      <p:sp>
        <p:nvSpPr>
          <p:cNvPr id="21" name="Shape 19"/>
          <p:cNvSpPr/>
          <p:nvPr/>
        </p:nvSpPr>
        <p:spPr>
          <a:xfrm>
            <a:off x="10060229" y="3202229"/>
            <a:ext cx="87782" cy="87782"/>
          </a:xfrm>
          <a:prstGeom prst="ellipse">
            <a:avLst/>
          </a:prstGeom>
          <a:solidFill>
            <a:srgbClr val="16A34A"/>
          </a:solidFill>
          <a:ln/>
        </p:spPr>
      </p:sp>
      <p:sp>
        <p:nvSpPr>
          <p:cNvPr id="22" name="Shape 20"/>
          <p:cNvSpPr/>
          <p:nvPr/>
        </p:nvSpPr>
        <p:spPr>
          <a:xfrm>
            <a:off x="10709087" y="2826959"/>
            <a:ext cx="161666" cy="161666"/>
          </a:xfrm>
          <a:prstGeom prst="ellipse">
            <a:avLst/>
          </a:prstGeom>
          <a:solidFill>
            <a:srgbClr val="9CA3AF">
              <a:alpha val="18000"/>
            </a:srgbClr>
          </a:solidFill>
          <a:ln/>
        </p:spPr>
      </p:sp>
      <p:sp>
        <p:nvSpPr>
          <p:cNvPr id="23" name="Shape 21"/>
          <p:cNvSpPr/>
          <p:nvPr/>
        </p:nvSpPr>
        <p:spPr>
          <a:xfrm>
            <a:off x="10758830" y="2876702"/>
            <a:ext cx="62179" cy="62179"/>
          </a:xfrm>
          <a:prstGeom prst="ellipse">
            <a:avLst/>
          </a:prstGeom>
          <a:solidFill>
            <a:srgbClr val="9CA3AF"/>
          </a:solidFill>
          <a:ln/>
        </p:spPr>
      </p:sp>
      <p:sp>
        <p:nvSpPr>
          <p:cNvPr id="24" name="Shape 22"/>
          <p:cNvSpPr/>
          <p:nvPr/>
        </p:nvSpPr>
        <p:spPr>
          <a:xfrm>
            <a:off x="8151693" y="3579693"/>
            <a:ext cx="247254" cy="247254"/>
          </a:xfrm>
          <a:prstGeom prst="ellipse">
            <a:avLst/>
          </a:prstGeom>
          <a:solidFill>
            <a:srgbClr val="16A34A">
              <a:alpha val="18000"/>
            </a:srgbClr>
          </a:solidFill>
          <a:ln/>
        </p:spPr>
      </p:sp>
      <p:sp>
        <p:nvSpPr>
          <p:cNvPr id="25" name="Shape 23"/>
          <p:cNvSpPr/>
          <p:nvPr/>
        </p:nvSpPr>
        <p:spPr>
          <a:xfrm>
            <a:off x="8227771" y="3655771"/>
            <a:ext cx="95098" cy="95098"/>
          </a:xfrm>
          <a:prstGeom prst="ellipse">
            <a:avLst/>
          </a:prstGeom>
          <a:solidFill>
            <a:srgbClr val="16A34A"/>
          </a:solidFill>
          <a:ln/>
        </p:spPr>
      </p:sp>
      <p:sp>
        <p:nvSpPr>
          <p:cNvPr id="26" name="Shape 24"/>
          <p:cNvSpPr/>
          <p:nvPr/>
        </p:nvSpPr>
        <p:spPr>
          <a:xfrm>
            <a:off x="8886139" y="3747211"/>
            <a:ext cx="332842" cy="332842"/>
          </a:xfrm>
          <a:prstGeom prst="ellipse">
            <a:avLst/>
          </a:prstGeom>
          <a:solidFill>
            <a:srgbClr val="DC2626">
              <a:alpha val="18000"/>
            </a:srgbClr>
          </a:solidFill>
          <a:ln/>
        </p:spPr>
      </p:sp>
      <p:sp>
        <p:nvSpPr>
          <p:cNvPr id="27" name="Shape 25"/>
          <p:cNvSpPr/>
          <p:nvPr/>
        </p:nvSpPr>
        <p:spPr>
          <a:xfrm>
            <a:off x="8988552" y="3849624"/>
            <a:ext cx="128016" cy="128016"/>
          </a:xfrm>
          <a:prstGeom prst="ellipse">
            <a:avLst/>
          </a:prstGeom>
          <a:solidFill>
            <a:srgbClr val="DC2626"/>
          </a:solidFill>
          <a:ln/>
        </p:spPr>
      </p:sp>
      <p:sp>
        <p:nvSpPr>
          <p:cNvPr id="28" name="Shape 26"/>
          <p:cNvSpPr/>
          <p:nvPr/>
        </p:nvSpPr>
        <p:spPr>
          <a:xfrm>
            <a:off x="9698492" y="3590300"/>
            <a:ext cx="171176" cy="171176"/>
          </a:xfrm>
          <a:prstGeom prst="ellipse">
            <a:avLst/>
          </a:prstGeom>
          <a:solidFill>
            <a:srgbClr val="16A34A">
              <a:alpha val="18000"/>
            </a:srgbClr>
          </a:solidFill>
          <a:ln/>
        </p:spPr>
      </p:sp>
      <p:sp>
        <p:nvSpPr>
          <p:cNvPr id="29" name="Shape 27"/>
          <p:cNvSpPr/>
          <p:nvPr/>
        </p:nvSpPr>
        <p:spPr>
          <a:xfrm>
            <a:off x="9751162" y="3642970"/>
            <a:ext cx="65837" cy="65837"/>
          </a:xfrm>
          <a:prstGeom prst="ellipse">
            <a:avLst/>
          </a:prstGeom>
          <a:solidFill>
            <a:srgbClr val="16A34A"/>
          </a:solidFill>
          <a:ln/>
        </p:spPr>
      </p:sp>
      <p:sp>
        <p:nvSpPr>
          <p:cNvPr id="30" name="Shape 28"/>
          <p:cNvSpPr/>
          <p:nvPr/>
        </p:nvSpPr>
        <p:spPr>
          <a:xfrm>
            <a:off x="10392705" y="3937041"/>
            <a:ext cx="209215" cy="209215"/>
          </a:xfrm>
          <a:prstGeom prst="ellipse">
            <a:avLst/>
          </a:prstGeom>
          <a:solidFill>
            <a:srgbClr val="16A34A">
              <a:alpha val="18000"/>
            </a:srgbClr>
          </a:solidFill>
          <a:ln/>
        </p:spPr>
      </p:sp>
      <p:sp>
        <p:nvSpPr>
          <p:cNvPr id="31" name="Shape 29"/>
          <p:cNvSpPr/>
          <p:nvPr/>
        </p:nvSpPr>
        <p:spPr>
          <a:xfrm>
            <a:off x="10457078" y="4001414"/>
            <a:ext cx="80467" cy="80467"/>
          </a:xfrm>
          <a:prstGeom prst="ellipse">
            <a:avLst/>
          </a:prstGeom>
          <a:solidFill>
            <a:srgbClr val="16A34A"/>
          </a:solidFill>
          <a:ln/>
        </p:spPr>
      </p:sp>
      <p:sp>
        <p:nvSpPr>
          <p:cNvPr id="32" name="Shape 30"/>
          <p:cNvSpPr/>
          <p:nvPr/>
        </p:nvSpPr>
        <p:spPr>
          <a:xfrm>
            <a:off x="7864937" y="4225625"/>
            <a:ext cx="180685" cy="180685"/>
          </a:xfrm>
          <a:prstGeom prst="ellipse">
            <a:avLst/>
          </a:prstGeom>
          <a:solidFill>
            <a:srgbClr val="9CA3AF">
              <a:alpha val="18000"/>
            </a:srgbClr>
          </a:solidFill>
          <a:ln/>
        </p:spPr>
      </p:sp>
      <p:sp>
        <p:nvSpPr>
          <p:cNvPr id="33" name="Shape 31"/>
          <p:cNvSpPr/>
          <p:nvPr/>
        </p:nvSpPr>
        <p:spPr>
          <a:xfrm>
            <a:off x="7920533" y="4281221"/>
            <a:ext cx="69494" cy="69494"/>
          </a:xfrm>
          <a:prstGeom prst="ellipse">
            <a:avLst/>
          </a:prstGeom>
          <a:solidFill>
            <a:srgbClr val="9CA3AF"/>
          </a:solidFill>
          <a:ln/>
        </p:spPr>
      </p:sp>
      <p:sp>
        <p:nvSpPr>
          <p:cNvPr id="34" name="Shape 32"/>
          <p:cNvSpPr/>
          <p:nvPr/>
        </p:nvSpPr>
        <p:spPr>
          <a:xfrm>
            <a:off x="8475756" y="4452396"/>
            <a:ext cx="275783" cy="275783"/>
          </a:xfrm>
          <a:prstGeom prst="ellipse">
            <a:avLst/>
          </a:prstGeom>
          <a:solidFill>
            <a:srgbClr val="16A34A">
              <a:alpha val="18000"/>
            </a:srgbClr>
          </a:solidFill>
          <a:ln/>
        </p:spPr>
      </p:sp>
      <p:sp>
        <p:nvSpPr>
          <p:cNvPr id="35" name="Shape 33"/>
          <p:cNvSpPr/>
          <p:nvPr/>
        </p:nvSpPr>
        <p:spPr>
          <a:xfrm>
            <a:off x="8560613" y="4537253"/>
            <a:ext cx="106070" cy="106070"/>
          </a:xfrm>
          <a:prstGeom prst="ellipse">
            <a:avLst/>
          </a:prstGeom>
          <a:solidFill>
            <a:srgbClr val="16A34A"/>
          </a:solidFill>
          <a:ln/>
        </p:spPr>
      </p:sp>
      <p:sp>
        <p:nvSpPr>
          <p:cNvPr id="36" name="Shape 34"/>
          <p:cNvSpPr/>
          <p:nvPr/>
        </p:nvSpPr>
        <p:spPr>
          <a:xfrm>
            <a:off x="9290670" y="4352910"/>
            <a:ext cx="218724" cy="218724"/>
          </a:xfrm>
          <a:prstGeom prst="ellipse">
            <a:avLst/>
          </a:prstGeom>
          <a:solidFill>
            <a:srgbClr val="16A34A">
              <a:alpha val="18000"/>
            </a:srgbClr>
          </a:solidFill>
          <a:ln/>
        </p:spPr>
      </p:sp>
      <p:sp>
        <p:nvSpPr>
          <p:cNvPr id="37" name="Shape 35"/>
          <p:cNvSpPr/>
          <p:nvPr/>
        </p:nvSpPr>
        <p:spPr>
          <a:xfrm>
            <a:off x="9357970" y="4420210"/>
            <a:ext cx="84125" cy="84125"/>
          </a:xfrm>
          <a:prstGeom prst="ellipse">
            <a:avLst/>
          </a:prstGeom>
          <a:solidFill>
            <a:srgbClr val="16A34A"/>
          </a:solidFill>
          <a:ln/>
        </p:spPr>
      </p:sp>
      <p:sp>
        <p:nvSpPr>
          <p:cNvPr id="38" name="Shape 36"/>
          <p:cNvSpPr/>
          <p:nvPr/>
        </p:nvSpPr>
        <p:spPr>
          <a:xfrm>
            <a:off x="10054742" y="4705502"/>
            <a:ext cx="190195" cy="190195"/>
          </a:xfrm>
          <a:prstGeom prst="ellipse">
            <a:avLst/>
          </a:prstGeom>
          <a:solidFill>
            <a:srgbClr val="16A34A">
              <a:alpha val="18000"/>
            </a:srgbClr>
          </a:solidFill>
          <a:ln/>
        </p:spPr>
      </p:sp>
      <p:sp>
        <p:nvSpPr>
          <p:cNvPr id="39" name="Shape 37"/>
          <p:cNvSpPr/>
          <p:nvPr/>
        </p:nvSpPr>
        <p:spPr>
          <a:xfrm>
            <a:off x="10113264" y="4764024"/>
            <a:ext cx="73152" cy="73152"/>
          </a:xfrm>
          <a:prstGeom prst="ellipse">
            <a:avLst/>
          </a:prstGeom>
          <a:solidFill>
            <a:srgbClr val="16A34A"/>
          </a:solidFill>
          <a:ln/>
        </p:spPr>
      </p:sp>
      <p:sp>
        <p:nvSpPr>
          <p:cNvPr id="40" name="Shape 38"/>
          <p:cNvSpPr/>
          <p:nvPr/>
        </p:nvSpPr>
        <p:spPr>
          <a:xfrm>
            <a:off x="10823570" y="4358762"/>
            <a:ext cx="152156" cy="152156"/>
          </a:xfrm>
          <a:prstGeom prst="ellipse">
            <a:avLst/>
          </a:prstGeom>
          <a:solidFill>
            <a:srgbClr val="16A34A">
              <a:alpha val="18000"/>
            </a:srgbClr>
          </a:solidFill>
          <a:ln/>
        </p:spPr>
      </p:sp>
      <p:sp>
        <p:nvSpPr>
          <p:cNvPr id="41" name="Shape 39"/>
          <p:cNvSpPr/>
          <p:nvPr/>
        </p:nvSpPr>
        <p:spPr>
          <a:xfrm>
            <a:off x="10870387" y="4405579"/>
            <a:ext cx="58522" cy="58522"/>
          </a:xfrm>
          <a:prstGeom prst="ellipse">
            <a:avLst/>
          </a:prstGeom>
          <a:solidFill>
            <a:srgbClr val="16A34A"/>
          </a:solidFill>
          <a:ln/>
        </p:spPr>
      </p:sp>
      <p:sp>
        <p:nvSpPr>
          <p:cNvPr id="42" name="Shape 40"/>
          <p:cNvSpPr/>
          <p:nvPr/>
        </p:nvSpPr>
        <p:spPr>
          <a:xfrm>
            <a:off x="9070848" y="4956048"/>
            <a:ext cx="237744" cy="237744"/>
          </a:xfrm>
          <a:prstGeom prst="ellipse">
            <a:avLst/>
          </a:prstGeom>
          <a:solidFill>
            <a:srgbClr val="16A34A">
              <a:alpha val="18000"/>
            </a:srgbClr>
          </a:solidFill>
          <a:ln/>
        </p:spPr>
      </p:sp>
      <p:sp>
        <p:nvSpPr>
          <p:cNvPr id="43" name="Shape 41"/>
          <p:cNvSpPr/>
          <p:nvPr/>
        </p:nvSpPr>
        <p:spPr>
          <a:xfrm>
            <a:off x="9144000" y="5029200"/>
            <a:ext cx="91440" cy="91440"/>
          </a:xfrm>
          <a:prstGeom prst="ellipse">
            <a:avLst/>
          </a:prstGeom>
          <a:solidFill>
            <a:srgbClr val="16A34A"/>
          </a:solidFill>
          <a:ln/>
        </p:spPr>
      </p:sp>
      <p:sp>
        <p:nvSpPr>
          <p:cNvPr id="44" name="Shape 42"/>
          <p:cNvSpPr/>
          <p:nvPr/>
        </p:nvSpPr>
        <p:spPr>
          <a:xfrm>
            <a:off x="8308604" y="5144780"/>
            <a:ext cx="171176" cy="171176"/>
          </a:xfrm>
          <a:prstGeom prst="ellipse">
            <a:avLst/>
          </a:prstGeom>
          <a:solidFill>
            <a:srgbClr val="9CA3AF">
              <a:alpha val="18000"/>
            </a:srgbClr>
          </a:solidFill>
          <a:ln/>
        </p:spPr>
      </p:sp>
      <p:sp>
        <p:nvSpPr>
          <p:cNvPr id="45" name="Shape 43"/>
          <p:cNvSpPr/>
          <p:nvPr/>
        </p:nvSpPr>
        <p:spPr>
          <a:xfrm>
            <a:off x="8361274" y="5197450"/>
            <a:ext cx="65837" cy="65837"/>
          </a:xfrm>
          <a:prstGeom prst="ellipse">
            <a:avLst/>
          </a:prstGeom>
          <a:solidFill>
            <a:srgbClr val="9CA3AF"/>
          </a:solidFill>
          <a:ln/>
        </p:spPr>
      </p:sp>
      <p:sp>
        <p:nvSpPr>
          <p:cNvPr id="46" name="Shape 44"/>
          <p:cNvSpPr/>
          <p:nvPr/>
        </p:nvSpPr>
        <p:spPr>
          <a:xfrm>
            <a:off x="9848820" y="5249388"/>
            <a:ext cx="199705" cy="199705"/>
          </a:xfrm>
          <a:prstGeom prst="ellipse">
            <a:avLst/>
          </a:prstGeom>
          <a:solidFill>
            <a:srgbClr val="16A34A">
              <a:alpha val="18000"/>
            </a:srgbClr>
          </a:solidFill>
          <a:ln/>
        </p:spPr>
      </p:sp>
      <p:sp>
        <p:nvSpPr>
          <p:cNvPr id="47" name="Shape 45"/>
          <p:cNvSpPr/>
          <p:nvPr/>
        </p:nvSpPr>
        <p:spPr>
          <a:xfrm>
            <a:off x="9910267" y="5310835"/>
            <a:ext cx="76810" cy="76810"/>
          </a:xfrm>
          <a:prstGeom prst="ellipse">
            <a:avLst/>
          </a:prstGeom>
          <a:solidFill>
            <a:srgbClr val="16A34A"/>
          </a:solidFill>
          <a:ln/>
        </p:spPr>
      </p:sp>
      <p:sp>
        <p:nvSpPr>
          <p:cNvPr id="48" name="Shape 46"/>
          <p:cNvSpPr/>
          <p:nvPr/>
        </p:nvSpPr>
        <p:spPr>
          <a:xfrm>
            <a:off x="10535717" y="4976165"/>
            <a:ext cx="142646" cy="142646"/>
          </a:xfrm>
          <a:prstGeom prst="ellipse">
            <a:avLst/>
          </a:prstGeom>
          <a:solidFill>
            <a:srgbClr val="16A34A">
              <a:alpha val="18000"/>
            </a:srgbClr>
          </a:solidFill>
          <a:ln/>
        </p:spPr>
      </p:sp>
      <p:sp>
        <p:nvSpPr>
          <p:cNvPr id="49" name="Shape 47"/>
          <p:cNvSpPr/>
          <p:nvPr/>
        </p:nvSpPr>
        <p:spPr>
          <a:xfrm>
            <a:off x="10579608" y="5020056"/>
            <a:ext cx="54864" cy="54864"/>
          </a:xfrm>
          <a:prstGeom prst="ellipse">
            <a:avLst/>
          </a:prstGeom>
          <a:solidFill>
            <a:srgbClr val="16A34A"/>
          </a:solidFill>
          <a:ln/>
        </p:spPr>
      </p:sp>
      <p:sp>
        <p:nvSpPr>
          <p:cNvPr id="50" name="Text 48"/>
          <p:cNvSpPr txBox="1"/>
          <p:nvPr/>
        </p:nvSpPr>
        <p:spPr>
          <a:xfrm>
            <a:off x="566928" y="2084832"/>
            <a:ext cx="6949440" cy="914400"/>
          </a:xfrm>
          <a:prstGeom prst="rect">
            <a:avLst/>
          </a:prstGeom>
          <a:noFill/>
          <a:ln/>
        </p:spPr>
        <p:txBody>
          <a:bodyPr wrap="square" lIns="0" tIns="0" rIns="0" bIns="0" rtlCol="0" anchor="ctr"/>
          <a:lstStyle/>
          <a:p>
            <a:pPr indent="0" marL="0">
              <a:buNone/>
            </a:pPr>
            <a:r>
              <a:rPr lang="en-US" sz="5800" b="1" dirty="0">
                <a:solidFill>
                  <a:srgbClr val="F1F5F9"/>
                </a:solidFill>
                <a:latin typeface="Arial" pitchFamily="34" charset="0"/>
                <a:ea typeface="Arial" pitchFamily="34" charset="-122"/>
                <a:cs typeface="Arial" pitchFamily="34" charset="-120"/>
              </a:rPr>
              <a:t>AgniDrishti</a:t>
            </a:r>
            <a:endParaRPr lang="en-US" sz="5800" dirty="0"/>
          </a:p>
        </p:txBody>
      </p:sp>
      <p:sp>
        <p:nvSpPr>
          <p:cNvPr id="51" name="Text 49"/>
          <p:cNvSpPr txBox="1"/>
          <p:nvPr/>
        </p:nvSpPr>
        <p:spPr>
          <a:xfrm>
            <a:off x="566928" y="3054096"/>
            <a:ext cx="7223760" cy="960120"/>
          </a:xfrm>
          <a:prstGeom prst="rect">
            <a:avLst/>
          </a:prstGeom>
          <a:noFill/>
          <a:ln/>
        </p:spPr>
        <p:txBody>
          <a:bodyPr wrap="square" lIns="0" tIns="0" rIns="0" bIns="0" rtlCol="0" anchor="ctr"/>
          <a:lstStyle/>
          <a:p>
            <a:pPr indent="0" marL="0">
              <a:lnSpc>
                <a:spcPts val="3100"/>
              </a:lnSpc>
              <a:buNone/>
            </a:pPr>
            <a:r>
              <a:rPr lang="en-US" sz="2100" dirty="0">
                <a:solidFill>
                  <a:srgbClr val="94A3B8"/>
                </a:solidFill>
                <a:latin typeface="Calibri" pitchFamily="34" charset="0"/>
                <a:ea typeface="Calibri" pitchFamily="34" charset="-122"/>
                <a:cs typeface="Calibri" pitchFamily="34" charset="-120"/>
              </a:rPr>
              <a:t>Satellites already tell us </a:t>
            </a:r>
            <a:pPr indent="0" marL="0">
              <a:lnSpc>
                <a:spcPts val="3100"/>
              </a:lnSpc>
              <a:buNone/>
            </a:pPr>
            <a:r>
              <a:rPr lang="en-US" sz="2100" b="1" dirty="0">
                <a:solidFill>
                  <a:srgbClr val="F1F5F9"/>
                </a:solidFill>
                <a:latin typeface="Calibri" pitchFamily="34" charset="0"/>
                <a:ea typeface="Calibri" pitchFamily="34" charset="-122"/>
                <a:cs typeface="Calibri" pitchFamily="34" charset="-120"/>
              </a:rPr>
              <a:t>where</a:t>
            </a:r>
            <a:pPr indent="0" marL="0">
              <a:lnSpc>
                <a:spcPts val="3100"/>
              </a:lnSpc>
              <a:buNone/>
            </a:pPr>
            <a:r>
              <a:rPr lang="en-US" sz="2100" dirty="0">
                <a:solidFill>
                  <a:srgbClr val="94A3B8"/>
                </a:solidFill>
                <a:latin typeface="Calibri" pitchFamily="34" charset="0"/>
                <a:ea typeface="Calibri" pitchFamily="34" charset="-122"/>
                <a:cs typeface="Calibri" pitchFamily="34" charset="-120"/>
              </a:rPr>
              <a:t> the Earth is hot.</a:t>
            </a:r>
            <a:endParaRPr lang="en-US" sz="2100" dirty="0"/>
          </a:p>
          <a:p>
            <a:pPr indent="0" marL="0">
              <a:lnSpc>
                <a:spcPts val="3100"/>
              </a:lnSpc>
              <a:buNone/>
            </a:pPr>
            <a:r>
              <a:rPr lang="en-US" sz="2100" dirty="0">
                <a:solidFill>
                  <a:srgbClr val="94A3B8"/>
                </a:solidFill>
                <a:latin typeface="Calibri" pitchFamily="34" charset="0"/>
                <a:ea typeface="Calibri" pitchFamily="34" charset="-122"/>
                <a:cs typeface="Calibri" pitchFamily="34" charset="-120"/>
              </a:rPr>
              <a:t>They do not tell us </a:t>
            </a:r>
            <a:pPr indent="0" marL="0">
              <a:lnSpc>
                <a:spcPts val="3100"/>
              </a:lnSpc>
              <a:buNone/>
            </a:pPr>
            <a:r>
              <a:rPr lang="en-US" sz="2100" b="1" dirty="0">
                <a:solidFill>
                  <a:srgbClr val="F97316"/>
                </a:solidFill>
                <a:latin typeface="Calibri" pitchFamily="34" charset="0"/>
                <a:ea typeface="Calibri" pitchFamily="34" charset="-122"/>
                <a:cs typeface="Calibri" pitchFamily="34" charset="-120"/>
              </a:rPr>
              <a:t>why</a:t>
            </a:r>
            <a:pPr indent="0" marL="0">
              <a:lnSpc>
                <a:spcPts val="3100"/>
              </a:lnSpc>
              <a:buNone/>
            </a:pPr>
            <a:r>
              <a:rPr lang="en-US" sz="2100" dirty="0">
                <a:solidFill>
                  <a:srgbClr val="94A3B8"/>
                </a:solidFill>
                <a:latin typeface="Calibri" pitchFamily="34" charset="0"/>
                <a:ea typeface="Calibri" pitchFamily="34" charset="-122"/>
                <a:cs typeface="Calibri" pitchFamily="34" charset="-120"/>
              </a:rPr>
              <a:t>.</a:t>
            </a:r>
            <a:endParaRPr lang="en-US" sz="2100" dirty="0"/>
          </a:p>
        </p:txBody>
      </p:sp>
      <p:sp>
        <p:nvSpPr>
          <p:cNvPr id="52" name="Text 50"/>
          <p:cNvSpPr txBox="1"/>
          <p:nvPr/>
        </p:nvSpPr>
        <p:spPr>
          <a:xfrm>
            <a:off x="566928" y="4133088"/>
            <a:ext cx="6766560" cy="45720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AI-assisted detection and classification of industrial fires and persistent thermal sources</a:t>
            </a:r>
            <a:endParaRPr lang="en-US" sz="1350" dirty="0"/>
          </a:p>
        </p:txBody>
      </p:sp>
      <p:sp>
        <p:nvSpPr>
          <p:cNvPr id="53" name="Text 51"/>
          <p:cNvSpPr txBox="1"/>
          <p:nvPr/>
        </p:nvSpPr>
        <p:spPr>
          <a:xfrm>
            <a:off x="566928" y="5138928"/>
            <a:ext cx="7498080" cy="274320"/>
          </a:xfrm>
          <a:prstGeom prst="rect">
            <a:avLst/>
          </a:prstGeom>
          <a:noFill/>
          <a:ln/>
        </p:spPr>
        <p:txBody>
          <a:bodyPr wrap="square" lIns="0" tIns="0" rIns="0" bIns="0" rtlCol="0" anchor="ctr"/>
          <a:lstStyle/>
          <a:p>
            <a:pPr indent="0" marL="0">
              <a:buNone/>
            </a:pPr>
            <a:r>
              <a:rPr lang="en-US" sz="1250" b="1" dirty="0">
                <a:solidFill>
                  <a:srgbClr val="F97316"/>
                </a:solidFill>
                <a:latin typeface="Calibri" pitchFamily="34" charset="0"/>
                <a:ea typeface="Calibri" pitchFamily="34" charset="-122"/>
                <a:cs typeface="Calibri" pitchFamily="34" charset="-120"/>
              </a:rPr>
              <a:t>PS 26162</a:t>
            </a:r>
            <a:pPr indent="0" marL="0">
              <a:buNone/>
            </a:pPr>
            <a:r>
              <a:rPr lang="en-US" sz="1250" dirty="0">
                <a:solidFill>
                  <a:srgbClr val="94A3B8"/>
                </a:solidFill>
                <a:latin typeface="Calibri" pitchFamily="34" charset="0"/>
                <a:ea typeface="Calibri" pitchFamily="34" charset="-122"/>
                <a:cs typeface="Calibri" pitchFamily="34" charset="-120"/>
              </a:rPr>
              <a:t>   ·   National Technical Research Organisation   ·   Disaster Management</a:t>
            </a:r>
            <a:endParaRPr lang="en-US" sz="1250" dirty="0"/>
          </a:p>
        </p:txBody>
      </p:sp>
      <p:sp>
        <p:nvSpPr>
          <p:cNvPr id="54" name="Text 52"/>
          <p:cNvSpPr txBox="1"/>
          <p:nvPr/>
        </p:nvSpPr>
        <p:spPr>
          <a:xfrm>
            <a:off x="566928" y="5468112"/>
            <a:ext cx="7498080" cy="2743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Team AsyncMavericks_SIH0162</a:t>
            </a:r>
            <a:endParaRPr lang="en-US" sz="1250" dirty="0"/>
          </a:p>
        </p:txBody>
      </p:sp>
      <p:sp>
        <p:nvSpPr>
          <p:cNvPr id="56" name="Text 53"/>
          <p:cNvSpPr txBox="1"/>
          <p:nvPr/>
        </p:nvSpPr>
        <p:spPr>
          <a:xfrm>
            <a:off x="566928" y="6345936"/>
            <a:ext cx="64008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AgniDrishti  ·  PS 26162  ·  AsyncMavericks_SIH0162</a:t>
            </a:r>
            <a:endParaRPr lang="en-US" sz="950" dirty="0"/>
          </a:p>
        </p:txBody>
      </p:sp>
      <p:sp>
        <p:nvSpPr>
          <p:cNvPr id="57" name="Text 54"/>
          <p:cNvSpPr txBox="1"/>
          <p:nvPr/>
        </p:nvSpPr>
        <p:spPr>
          <a:xfrm>
            <a:off x="11076127" y="6345936"/>
            <a:ext cx="54864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566928"/>
          </a:xfrm>
          <a:prstGeom prst="rect">
            <a:avLst/>
          </a:prstGeom>
          <a:noFill/>
          <a:ln/>
        </p:spPr>
        <p:txBody>
          <a:bodyPr wrap="square" lIns="0" tIns="0" rIns="0" bIns="0" rtlCol="0" anchor="ctr"/>
          <a:lstStyle/>
          <a:p>
            <a:pPr indent="0" marL="0">
              <a:buNone/>
            </a:pPr>
            <a:r>
              <a:rPr lang="en-US" sz="3400" b="1" dirty="0">
                <a:solidFill>
                  <a:srgbClr val="F1F5F9"/>
                </a:solidFill>
                <a:latin typeface="Arial" pitchFamily="34" charset="0"/>
                <a:ea typeface="Arial" pitchFamily="34" charset="-122"/>
                <a:cs typeface="Arial" pitchFamily="34" charset="-120"/>
              </a:rPr>
              <a:t>One hot pixel. Four very different things.</a:t>
            </a:r>
            <a:endParaRPr lang="en-US" sz="3400" dirty="0"/>
          </a:p>
        </p:txBody>
      </p:sp>
      <p:sp>
        <p:nvSpPr>
          <p:cNvPr id="3" name="Text 1"/>
          <p:cNvSpPr txBox="1"/>
          <p:nvPr/>
        </p:nvSpPr>
        <p:spPr>
          <a:xfrm>
            <a:off x="566928" y="1024128"/>
            <a:ext cx="11057839" cy="310896"/>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NASA FIRMS reports thermal anomalies — not fires. To the instrument these look identical. They demand completely different responses.</a:t>
            </a:r>
            <a:endParaRPr lang="en-US" sz="1500" dirty="0"/>
          </a:p>
        </p:txBody>
      </p:sp>
      <p:sp>
        <p:nvSpPr>
          <p:cNvPr id="4" name="Shape 2"/>
          <p:cNvSpPr/>
          <p:nvPr/>
        </p:nvSpPr>
        <p:spPr>
          <a:xfrm>
            <a:off x="566928" y="1810512"/>
            <a:ext cx="2558720" cy="2395728"/>
          </a:xfrm>
          <a:prstGeom prst="roundRect">
            <a:avLst>
              <a:gd name="adj" fmla="val 3053"/>
            </a:avLst>
          </a:prstGeom>
          <a:solidFill>
            <a:srgbClr val="16202F"/>
          </a:solidFill>
          <a:ln w="12700">
            <a:solidFill>
              <a:srgbClr val="2A3646"/>
            </a:solidFill>
            <a:prstDash val="solid"/>
          </a:ln>
        </p:spPr>
      </p:sp>
      <p:sp>
        <p:nvSpPr>
          <p:cNvPr id="5" name="Shape 3"/>
          <p:cNvSpPr/>
          <p:nvPr/>
        </p:nvSpPr>
        <p:spPr>
          <a:xfrm>
            <a:off x="763524" y="2043684"/>
            <a:ext cx="265176" cy="265176"/>
          </a:xfrm>
          <a:prstGeom prst="ellipse">
            <a:avLst/>
          </a:prstGeom>
          <a:solidFill>
            <a:srgbClr val="EA580C"/>
          </a:solidFill>
          <a:ln/>
        </p:spPr>
      </p:sp>
      <p:sp>
        <p:nvSpPr>
          <p:cNvPr id="6" name="Text 4"/>
          <p:cNvSpPr txBox="1"/>
          <p:nvPr/>
        </p:nvSpPr>
        <p:spPr>
          <a:xfrm>
            <a:off x="768096" y="2432304"/>
            <a:ext cx="2156384" cy="530352"/>
          </a:xfrm>
          <a:prstGeom prst="rect">
            <a:avLst/>
          </a:prstGeom>
          <a:noFill/>
          <a:ln/>
        </p:spPr>
        <p:txBody>
          <a:bodyPr wrap="square" lIns="0" tIns="0" rIns="0" bIns="0" rtlCol="0" anchor="ctr"/>
          <a:lstStyle/>
          <a:p>
            <a:pPr indent="0" marL="0">
              <a:lnSpc>
                <a:spcPts val="1700"/>
              </a:lnSpc>
              <a:buNone/>
            </a:pPr>
            <a:r>
              <a:rPr lang="en-US" sz="1350" b="1" dirty="0">
                <a:solidFill>
                  <a:srgbClr val="EA580C"/>
                </a:solidFill>
                <a:latin typeface="Arial" pitchFamily="34" charset="0"/>
                <a:ea typeface="Arial" pitchFamily="34" charset="-122"/>
                <a:cs typeface="Arial" pitchFamily="34" charset="-120"/>
              </a:rPr>
              <a:t>Persistent thermal source</a:t>
            </a:r>
            <a:endParaRPr lang="en-US" sz="1350" dirty="0"/>
          </a:p>
        </p:txBody>
      </p:sp>
      <p:sp>
        <p:nvSpPr>
          <p:cNvPr id="7" name="Text 5"/>
          <p:cNvSpPr txBox="1"/>
          <p:nvPr/>
        </p:nvSpPr>
        <p:spPr>
          <a:xfrm>
            <a:off x="768096" y="3035808"/>
            <a:ext cx="2156384" cy="64008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Refinery flare, furnace or kiln —</a:t>
            </a:r>
            <a:endParaRPr lang="en-US" sz="1150" dirty="0"/>
          </a:p>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burning routinely, often for years</a:t>
            </a:r>
            <a:endParaRPr lang="en-US" sz="1150" dirty="0"/>
          </a:p>
        </p:txBody>
      </p:sp>
      <p:sp>
        <p:nvSpPr>
          <p:cNvPr id="8" name="Text 6"/>
          <p:cNvSpPr txBox="1"/>
          <p:nvPr/>
        </p:nvSpPr>
        <p:spPr>
          <a:xfrm>
            <a:off x="768096" y="3730752"/>
            <a:ext cx="2156384" cy="310896"/>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Routine — filter it out</a:t>
            </a:r>
            <a:endParaRPr lang="en-US" sz="1150" dirty="0"/>
          </a:p>
        </p:txBody>
      </p:sp>
      <p:sp>
        <p:nvSpPr>
          <p:cNvPr id="9" name="Shape 7"/>
          <p:cNvSpPr/>
          <p:nvPr/>
        </p:nvSpPr>
        <p:spPr>
          <a:xfrm>
            <a:off x="3399968" y="1810512"/>
            <a:ext cx="2558720" cy="2395728"/>
          </a:xfrm>
          <a:prstGeom prst="roundRect">
            <a:avLst>
              <a:gd name="adj" fmla="val 3053"/>
            </a:avLst>
          </a:prstGeom>
          <a:solidFill>
            <a:srgbClr val="16202F"/>
          </a:solidFill>
          <a:ln w="12700">
            <a:solidFill>
              <a:srgbClr val="2A3646"/>
            </a:solidFill>
            <a:prstDash val="solid"/>
          </a:ln>
        </p:spPr>
      </p:sp>
      <p:sp>
        <p:nvSpPr>
          <p:cNvPr id="10" name="Shape 8"/>
          <p:cNvSpPr/>
          <p:nvPr/>
        </p:nvSpPr>
        <p:spPr>
          <a:xfrm>
            <a:off x="3596564" y="2043684"/>
            <a:ext cx="265176" cy="265176"/>
          </a:xfrm>
          <a:prstGeom prst="ellipse">
            <a:avLst/>
          </a:prstGeom>
          <a:solidFill>
            <a:srgbClr val="DC2626"/>
          </a:solidFill>
          <a:ln/>
        </p:spPr>
      </p:sp>
      <p:sp>
        <p:nvSpPr>
          <p:cNvPr id="11" name="Text 9"/>
          <p:cNvSpPr txBox="1"/>
          <p:nvPr/>
        </p:nvSpPr>
        <p:spPr>
          <a:xfrm>
            <a:off x="3601136" y="2432304"/>
            <a:ext cx="2156384" cy="530352"/>
          </a:xfrm>
          <a:prstGeom prst="rect">
            <a:avLst/>
          </a:prstGeom>
          <a:noFill/>
          <a:ln/>
        </p:spPr>
        <p:txBody>
          <a:bodyPr wrap="square" lIns="0" tIns="0" rIns="0" bIns="0" rtlCol="0" anchor="ctr"/>
          <a:lstStyle/>
          <a:p>
            <a:pPr indent="0" marL="0">
              <a:lnSpc>
                <a:spcPts val="1700"/>
              </a:lnSpc>
              <a:buNone/>
            </a:pPr>
            <a:r>
              <a:rPr lang="en-US" sz="1350" b="1" dirty="0">
                <a:solidFill>
                  <a:srgbClr val="DC2626"/>
                </a:solidFill>
                <a:latin typeface="Arial" pitchFamily="34" charset="0"/>
                <a:ea typeface="Arial" pitchFamily="34" charset="-122"/>
                <a:cs typeface="Arial" pitchFamily="34" charset="-120"/>
              </a:rPr>
              <a:t>Industrial fire</a:t>
            </a:r>
            <a:endParaRPr lang="en-US" sz="1350" dirty="0"/>
          </a:p>
        </p:txBody>
      </p:sp>
      <p:sp>
        <p:nvSpPr>
          <p:cNvPr id="12" name="Text 10"/>
          <p:cNvSpPr txBox="1"/>
          <p:nvPr/>
        </p:nvSpPr>
        <p:spPr>
          <a:xfrm>
            <a:off x="3601136" y="3035808"/>
            <a:ext cx="2156384" cy="64008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An unplanned fire event on</a:t>
            </a:r>
            <a:endParaRPr lang="en-US" sz="1150" dirty="0"/>
          </a:p>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industrial land</a:t>
            </a:r>
            <a:endParaRPr lang="en-US" sz="1150" dirty="0"/>
          </a:p>
        </p:txBody>
      </p:sp>
      <p:sp>
        <p:nvSpPr>
          <p:cNvPr id="13" name="Text 11"/>
          <p:cNvSpPr txBox="1"/>
          <p:nvPr/>
        </p:nvSpPr>
        <p:spPr>
          <a:xfrm>
            <a:off x="3601136" y="3730752"/>
            <a:ext cx="2156384" cy="310896"/>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Escalate — act on this</a:t>
            </a:r>
            <a:endParaRPr lang="en-US" sz="1150" dirty="0"/>
          </a:p>
        </p:txBody>
      </p:sp>
      <p:sp>
        <p:nvSpPr>
          <p:cNvPr id="14" name="Shape 12"/>
          <p:cNvSpPr/>
          <p:nvPr/>
        </p:nvSpPr>
        <p:spPr>
          <a:xfrm>
            <a:off x="6233008" y="1810512"/>
            <a:ext cx="2558720" cy="2395728"/>
          </a:xfrm>
          <a:prstGeom prst="roundRect">
            <a:avLst>
              <a:gd name="adj" fmla="val 3053"/>
            </a:avLst>
          </a:prstGeom>
          <a:solidFill>
            <a:srgbClr val="16202F"/>
          </a:solidFill>
          <a:ln w="12700">
            <a:solidFill>
              <a:srgbClr val="2A3646"/>
            </a:solidFill>
            <a:prstDash val="solid"/>
          </a:ln>
        </p:spPr>
      </p:sp>
      <p:sp>
        <p:nvSpPr>
          <p:cNvPr id="15" name="Shape 13"/>
          <p:cNvSpPr/>
          <p:nvPr/>
        </p:nvSpPr>
        <p:spPr>
          <a:xfrm>
            <a:off x="6429604" y="2043684"/>
            <a:ext cx="265176" cy="265176"/>
          </a:xfrm>
          <a:prstGeom prst="ellipse">
            <a:avLst/>
          </a:prstGeom>
          <a:solidFill>
            <a:srgbClr val="16A34A"/>
          </a:solidFill>
          <a:ln/>
        </p:spPr>
      </p:sp>
      <p:sp>
        <p:nvSpPr>
          <p:cNvPr id="16" name="Text 14"/>
          <p:cNvSpPr txBox="1"/>
          <p:nvPr/>
        </p:nvSpPr>
        <p:spPr>
          <a:xfrm>
            <a:off x="6434176" y="2432304"/>
            <a:ext cx="2156384" cy="530352"/>
          </a:xfrm>
          <a:prstGeom prst="rect">
            <a:avLst/>
          </a:prstGeom>
          <a:noFill/>
          <a:ln/>
        </p:spPr>
        <p:txBody>
          <a:bodyPr wrap="square" lIns="0" tIns="0" rIns="0" bIns="0" rtlCol="0" anchor="ctr"/>
          <a:lstStyle/>
          <a:p>
            <a:pPr indent="0" marL="0">
              <a:lnSpc>
                <a:spcPts val="1700"/>
              </a:lnSpc>
              <a:buNone/>
            </a:pPr>
            <a:r>
              <a:rPr lang="en-US" sz="1350" b="1" dirty="0">
                <a:solidFill>
                  <a:srgbClr val="16A34A"/>
                </a:solidFill>
                <a:latin typeface="Arial" pitchFamily="34" charset="0"/>
                <a:ea typeface="Arial" pitchFamily="34" charset="-122"/>
                <a:cs typeface="Arial" pitchFamily="34" charset="-120"/>
              </a:rPr>
              <a:t>Vegetation fire</a:t>
            </a:r>
            <a:endParaRPr lang="en-US" sz="1350" dirty="0"/>
          </a:p>
        </p:txBody>
      </p:sp>
      <p:sp>
        <p:nvSpPr>
          <p:cNvPr id="17" name="Text 15"/>
          <p:cNvSpPr txBox="1"/>
          <p:nvPr/>
        </p:nvSpPr>
        <p:spPr>
          <a:xfrm>
            <a:off x="6434176" y="3035808"/>
            <a:ext cx="2156384" cy="64008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Crop residue, forest, grassland</a:t>
            </a:r>
            <a:endParaRPr lang="en-US" sz="1150" dirty="0"/>
          </a:p>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or scrub burning</a:t>
            </a:r>
            <a:endParaRPr lang="en-US" sz="1150" dirty="0"/>
          </a:p>
        </p:txBody>
      </p:sp>
      <p:sp>
        <p:nvSpPr>
          <p:cNvPr id="18" name="Text 16"/>
          <p:cNvSpPr txBox="1"/>
          <p:nvPr/>
        </p:nvSpPr>
        <p:spPr>
          <a:xfrm>
            <a:off x="6434176" y="3730752"/>
            <a:ext cx="2156384" cy="310896"/>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Not an industrial incident</a:t>
            </a:r>
            <a:endParaRPr lang="en-US" sz="1150" dirty="0"/>
          </a:p>
        </p:txBody>
      </p:sp>
      <p:sp>
        <p:nvSpPr>
          <p:cNvPr id="19" name="Shape 17"/>
          <p:cNvSpPr/>
          <p:nvPr/>
        </p:nvSpPr>
        <p:spPr>
          <a:xfrm>
            <a:off x="9066047" y="1810512"/>
            <a:ext cx="2558720" cy="2395728"/>
          </a:xfrm>
          <a:prstGeom prst="roundRect">
            <a:avLst>
              <a:gd name="adj" fmla="val 3053"/>
            </a:avLst>
          </a:prstGeom>
          <a:solidFill>
            <a:srgbClr val="16202F"/>
          </a:solidFill>
          <a:ln w="12700">
            <a:solidFill>
              <a:srgbClr val="2A3646"/>
            </a:solidFill>
            <a:prstDash val="solid"/>
          </a:ln>
        </p:spPr>
      </p:sp>
      <p:sp>
        <p:nvSpPr>
          <p:cNvPr id="20" name="Shape 18"/>
          <p:cNvSpPr/>
          <p:nvPr/>
        </p:nvSpPr>
        <p:spPr>
          <a:xfrm>
            <a:off x="9262643" y="2043684"/>
            <a:ext cx="265176" cy="265176"/>
          </a:xfrm>
          <a:prstGeom prst="ellipse">
            <a:avLst/>
          </a:prstGeom>
          <a:solidFill>
            <a:srgbClr val="9CA3AF"/>
          </a:solidFill>
          <a:ln/>
        </p:spPr>
      </p:sp>
      <p:sp>
        <p:nvSpPr>
          <p:cNvPr id="21" name="Text 19"/>
          <p:cNvSpPr txBox="1"/>
          <p:nvPr/>
        </p:nvSpPr>
        <p:spPr>
          <a:xfrm>
            <a:off x="9267215" y="2432304"/>
            <a:ext cx="2156384" cy="530352"/>
          </a:xfrm>
          <a:prstGeom prst="rect">
            <a:avLst/>
          </a:prstGeom>
          <a:noFill/>
          <a:ln/>
        </p:spPr>
        <p:txBody>
          <a:bodyPr wrap="square" lIns="0" tIns="0" rIns="0" bIns="0" rtlCol="0" anchor="ctr"/>
          <a:lstStyle/>
          <a:p>
            <a:pPr indent="0" marL="0">
              <a:lnSpc>
                <a:spcPts val="1700"/>
              </a:lnSpc>
              <a:buNone/>
            </a:pPr>
            <a:r>
              <a:rPr lang="en-US" sz="1350" b="1" dirty="0">
                <a:solidFill>
                  <a:srgbClr val="9CA3AF"/>
                </a:solidFill>
                <a:latin typeface="Arial" pitchFamily="34" charset="0"/>
                <a:ea typeface="Arial" pitchFamily="34" charset="-122"/>
                <a:cs typeface="Arial" pitchFamily="34" charset="-120"/>
              </a:rPr>
              <a:t>Other / uncertain</a:t>
            </a:r>
            <a:endParaRPr lang="en-US" sz="1350" dirty="0"/>
          </a:p>
        </p:txBody>
      </p:sp>
      <p:sp>
        <p:nvSpPr>
          <p:cNvPr id="22" name="Text 20"/>
          <p:cNvSpPr txBox="1"/>
          <p:nvPr/>
        </p:nvSpPr>
        <p:spPr>
          <a:xfrm>
            <a:off x="9267215" y="3035808"/>
            <a:ext cx="2156384" cy="64008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Context too thin or contradictory</a:t>
            </a:r>
            <a:endParaRPr lang="en-US" sz="1150" dirty="0"/>
          </a:p>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to call — landfill, unmapped sites</a:t>
            </a:r>
            <a:endParaRPr lang="en-US" sz="1150" dirty="0"/>
          </a:p>
        </p:txBody>
      </p:sp>
      <p:sp>
        <p:nvSpPr>
          <p:cNvPr id="23" name="Text 21"/>
          <p:cNvSpPr txBox="1"/>
          <p:nvPr/>
        </p:nvSpPr>
        <p:spPr>
          <a:xfrm>
            <a:off x="9267215" y="3730752"/>
            <a:ext cx="2156384" cy="310896"/>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Send for human review</a:t>
            </a:r>
            <a:endParaRPr lang="en-US" sz="1150" dirty="0"/>
          </a:p>
        </p:txBody>
      </p:sp>
      <p:sp>
        <p:nvSpPr>
          <p:cNvPr id="24" name="Shape 22"/>
          <p:cNvSpPr/>
          <p:nvPr/>
        </p:nvSpPr>
        <p:spPr>
          <a:xfrm>
            <a:off x="566928" y="4480560"/>
            <a:ext cx="11057839" cy="1481328"/>
          </a:xfrm>
          <a:prstGeom prst="roundRect">
            <a:avLst>
              <a:gd name="adj" fmla="val 4938"/>
            </a:avLst>
          </a:prstGeom>
          <a:solidFill>
            <a:srgbClr val="1C2739"/>
          </a:solidFill>
          <a:ln w="15875">
            <a:solidFill>
              <a:srgbClr val="F97316"/>
            </a:solidFill>
            <a:prstDash val="solid"/>
          </a:ln>
        </p:spPr>
      </p:sp>
      <p:sp>
        <p:nvSpPr>
          <p:cNvPr id="25" name="Text 23"/>
          <p:cNvSpPr txBox="1"/>
          <p:nvPr/>
        </p:nvSpPr>
        <p:spPr>
          <a:xfrm>
            <a:off x="950976" y="4681728"/>
            <a:ext cx="10289743" cy="365760"/>
          </a:xfrm>
          <a:prstGeom prst="rect">
            <a:avLst/>
          </a:prstGeom>
          <a:noFill/>
          <a:ln/>
        </p:spPr>
        <p:txBody>
          <a:bodyPr wrap="square" lIns="0" tIns="0" rIns="0" bIns="0" rtlCol="0" anchor="ctr"/>
          <a:lstStyle/>
          <a:p>
            <a:pPr indent="0" marL="0">
              <a:buNone/>
            </a:pPr>
            <a:r>
              <a:rPr lang="en-US" sz="1900" b="1" dirty="0">
                <a:solidFill>
                  <a:srgbClr val="F1F5F9"/>
                </a:solidFill>
                <a:latin typeface="Arial" pitchFamily="34" charset="0"/>
                <a:ea typeface="Arial" pitchFamily="34" charset="-122"/>
                <a:cs typeface="Arial" pitchFamily="34" charset="-120"/>
              </a:rPr>
              <a:t>The persistent sources fire the same alert every single day.</a:t>
            </a:r>
            <a:endParaRPr lang="en-US" sz="1900" dirty="0"/>
          </a:p>
        </p:txBody>
      </p:sp>
      <p:sp>
        <p:nvSpPr>
          <p:cNvPr id="26" name="Text 24"/>
          <p:cNvSpPr txBox="1"/>
          <p:nvPr/>
        </p:nvSpPr>
        <p:spPr>
          <a:xfrm>
            <a:off x="950976" y="5138928"/>
            <a:ext cx="10289743" cy="731520"/>
          </a:xfrm>
          <a:prstGeom prst="rect">
            <a:avLst/>
          </a:prstGeom>
          <a:noFill/>
          <a:ln/>
        </p:spPr>
        <p:txBody>
          <a:bodyPr wrap="square" lIns="0" tIns="0" rIns="0" bIns="0" rtlCol="0" anchor="ctr"/>
          <a:lstStyle/>
          <a:p>
            <a:pPr indent="0" marL="0">
              <a:lnSpc>
                <a:spcPts val="2000"/>
              </a:lnSpc>
              <a:buNone/>
            </a:pPr>
            <a:r>
              <a:rPr lang="en-US" sz="1400" dirty="0">
                <a:solidFill>
                  <a:srgbClr val="94A3B8"/>
                </a:solidFill>
                <a:latin typeface="Calibri" pitchFamily="34" charset="0"/>
                <a:ea typeface="Calibri" pitchFamily="34" charset="-122"/>
                <a:cs typeface="Calibri" pitchFamily="34" charset="-120"/>
              </a:rPr>
              <a:t>An operator receiving those alerts stops reading alerts within a week — and genuine incidents are buried inside that noise. The information gap is not detection. It is interpretation.</a:t>
            </a:r>
            <a:endParaRPr lang="en-US" sz="1400" dirty="0"/>
          </a:p>
        </p:txBody>
      </p:sp>
      <p:sp>
        <p:nvSpPr>
          <p:cNvPr id="28" name="Text 25"/>
          <p:cNvSpPr txBox="1"/>
          <p:nvPr/>
        </p:nvSpPr>
        <p:spPr>
          <a:xfrm>
            <a:off x="566928" y="6345936"/>
            <a:ext cx="64008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AgniDrishti  ·  PS 26162  ·  AsyncMavericks_SIH0162</a:t>
            </a:r>
            <a:endParaRPr lang="en-US" sz="950" dirty="0"/>
          </a:p>
        </p:txBody>
      </p:sp>
      <p:sp>
        <p:nvSpPr>
          <p:cNvPr id="29" name="Text 26"/>
          <p:cNvSpPr txBox="1"/>
          <p:nvPr/>
        </p:nvSpPr>
        <p:spPr>
          <a:xfrm>
            <a:off x="11076127" y="6345936"/>
            <a:ext cx="54864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566928"/>
          </a:xfrm>
          <a:prstGeom prst="rect">
            <a:avLst/>
          </a:prstGeom>
          <a:noFill/>
          <a:ln/>
        </p:spPr>
        <p:txBody>
          <a:bodyPr wrap="square" lIns="0" tIns="0" rIns="0" bIns="0" rtlCol="0" anchor="ctr"/>
          <a:lstStyle/>
          <a:p>
            <a:pPr indent="0" marL="0">
              <a:buNone/>
            </a:pPr>
            <a:r>
              <a:rPr lang="en-US" sz="3400" b="1" dirty="0">
                <a:solidFill>
                  <a:srgbClr val="F1F5F9"/>
                </a:solidFill>
                <a:latin typeface="Arial" pitchFamily="34" charset="0"/>
                <a:ea typeface="Arial" pitchFamily="34" charset="-122"/>
                <a:cs typeface="Arial" pitchFamily="34" charset="-120"/>
              </a:rPr>
              <a:t>The discriminator is time, not temperature.</a:t>
            </a:r>
            <a:endParaRPr lang="en-US" sz="3400" dirty="0"/>
          </a:p>
        </p:txBody>
      </p:sp>
      <p:sp>
        <p:nvSpPr>
          <p:cNvPr id="3" name="Text 1"/>
          <p:cNvSpPr txBox="1"/>
          <p:nvPr/>
        </p:nvSpPr>
        <p:spPr>
          <a:xfrm>
            <a:off x="566928" y="1024128"/>
            <a:ext cx="11057839" cy="310896"/>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In a single snapshot a routine gas flare and an industrial fire are indistinguishable.</a:t>
            </a:r>
            <a:endParaRPr lang="en-US" sz="1500" dirty="0"/>
          </a:p>
        </p:txBody>
      </p:sp>
      <p:sp>
        <p:nvSpPr>
          <p:cNvPr id="4" name="Shape 2"/>
          <p:cNvSpPr/>
          <p:nvPr/>
        </p:nvSpPr>
        <p:spPr>
          <a:xfrm>
            <a:off x="566928" y="1627632"/>
            <a:ext cx="7772400" cy="2907792"/>
          </a:xfrm>
          <a:prstGeom prst="roundRect">
            <a:avLst>
              <a:gd name="adj" fmla="val 2516"/>
            </a:avLst>
          </a:prstGeom>
          <a:solidFill>
            <a:srgbClr val="16202F"/>
          </a:solidFill>
          <a:ln w="12700">
            <a:solidFill>
              <a:srgbClr val="2A3646"/>
            </a:solidFill>
            <a:prstDash val="solid"/>
          </a:ln>
        </p:spPr>
      </p:sp>
      <p:sp>
        <p:nvSpPr>
          <p:cNvPr id="5" name="Shape 3"/>
          <p:cNvSpPr/>
          <p:nvPr/>
        </p:nvSpPr>
        <p:spPr>
          <a:xfrm>
            <a:off x="3118104" y="1792224"/>
            <a:ext cx="182880" cy="182880"/>
          </a:xfrm>
          <a:prstGeom prst="ellipse">
            <a:avLst/>
          </a:prstGeom>
          <a:solidFill>
            <a:srgbClr val="EA580C"/>
          </a:solidFill>
          <a:ln/>
        </p:spPr>
      </p:sp>
      <p:sp>
        <p:nvSpPr>
          <p:cNvPr id="6" name="Text 4"/>
          <p:cNvSpPr txBox="1"/>
          <p:nvPr/>
        </p:nvSpPr>
        <p:spPr>
          <a:xfrm>
            <a:off x="3355848" y="1700784"/>
            <a:ext cx="2377440" cy="365760"/>
          </a:xfrm>
          <a:prstGeom prst="rect">
            <a:avLst/>
          </a:prstGeom>
          <a:noFill/>
          <a:ln/>
        </p:spPr>
        <p:txBody>
          <a:bodyPr wrap="square" lIns="0" tIns="0" rIns="0" bIns="0" rtlCol="0" anchor="ctr"/>
          <a:lstStyle/>
          <a:p>
            <a:pPr indent="0" marL="0">
              <a:buNone/>
            </a:pPr>
            <a:r>
              <a:rPr lang="en-US" sz="1250" b="1" dirty="0">
                <a:solidFill>
                  <a:srgbClr val="EA580C"/>
                </a:solidFill>
                <a:latin typeface="Arial" pitchFamily="34" charset="0"/>
                <a:ea typeface="Arial" pitchFamily="34" charset="-122"/>
                <a:cs typeface="Arial" pitchFamily="34" charset="-120"/>
              </a:rPr>
              <a:t>Gas flare  (routine)</a:t>
            </a:r>
            <a:endParaRPr lang="en-US" sz="1250" dirty="0"/>
          </a:p>
        </p:txBody>
      </p:sp>
      <p:sp>
        <p:nvSpPr>
          <p:cNvPr id="7" name="Shape 5"/>
          <p:cNvSpPr/>
          <p:nvPr/>
        </p:nvSpPr>
        <p:spPr>
          <a:xfrm>
            <a:off x="5678424" y="1792224"/>
            <a:ext cx="182880" cy="182880"/>
          </a:xfrm>
          <a:prstGeom prst="ellipse">
            <a:avLst/>
          </a:prstGeom>
          <a:solidFill>
            <a:srgbClr val="DC2626"/>
          </a:solidFill>
          <a:ln/>
        </p:spPr>
      </p:sp>
      <p:sp>
        <p:nvSpPr>
          <p:cNvPr id="8" name="Text 6"/>
          <p:cNvSpPr txBox="1"/>
          <p:nvPr/>
        </p:nvSpPr>
        <p:spPr>
          <a:xfrm>
            <a:off x="5916168" y="1700784"/>
            <a:ext cx="2331720" cy="365760"/>
          </a:xfrm>
          <a:prstGeom prst="rect">
            <a:avLst/>
          </a:prstGeom>
          <a:noFill/>
          <a:ln/>
        </p:spPr>
        <p:txBody>
          <a:bodyPr wrap="square" lIns="0" tIns="0" rIns="0" bIns="0" rtlCol="0" anchor="ctr"/>
          <a:lstStyle/>
          <a:p>
            <a:pPr indent="0" marL="0">
              <a:buNone/>
            </a:pPr>
            <a:r>
              <a:rPr lang="en-US" sz="1250" b="1" dirty="0">
                <a:solidFill>
                  <a:srgbClr val="DC2626"/>
                </a:solidFill>
                <a:latin typeface="Arial" pitchFamily="34" charset="0"/>
                <a:ea typeface="Arial" pitchFamily="34" charset="-122"/>
                <a:cs typeface="Arial" pitchFamily="34" charset="-120"/>
              </a:rPr>
              <a:t>Industrial fire  (incident)</a:t>
            </a:r>
            <a:endParaRPr lang="en-US" sz="1250" dirty="0"/>
          </a:p>
        </p:txBody>
      </p:sp>
      <p:sp>
        <p:nvSpPr>
          <p:cNvPr id="9" name="Text 7"/>
          <p:cNvSpPr txBox="1"/>
          <p:nvPr/>
        </p:nvSpPr>
        <p:spPr>
          <a:xfrm>
            <a:off x="804672" y="2194560"/>
            <a:ext cx="2468880" cy="310896"/>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Hot pixel</a:t>
            </a:r>
            <a:endParaRPr lang="en-US" sz="1200" dirty="0"/>
          </a:p>
        </p:txBody>
      </p:sp>
      <p:sp>
        <p:nvSpPr>
          <p:cNvPr id="10" name="Text 8"/>
          <p:cNvSpPr txBox="1"/>
          <p:nvPr/>
        </p:nvSpPr>
        <p:spPr>
          <a:xfrm>
            <a:off x="3355848" y="2194560"/>
            <a:ext cx="2377440" cy="310896"/>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yes</a:t>
            </a:r>
            <a:endParaRPr lang="en-US" sz="1200" dirty="0"/>
          </a:p>
        </p:txBody>
      </p:sp>
      <p:sp>
        <p:nvSpPr>
          <p:cNvPr id="11" name="Text 9"/>
          <p:cNvSpPr txBox="1"/>
          <p:nvPr/>
        </p:nvSpPr>
        <p:spPr>
          <a:xfrm>
            <a:off x="5916168" y="2194560"/>
            <a:ext cx="2377440" cy="310896"/>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yes</a:t>
            </a:r>
            <a:endParaRPr lang="en-US" sz="1200" dirty="0"/>
          </a:p>
        </p:txBody>
      </p:sp>
      <p:sp>
        <p:nvSpPr>
          <p:cNvPr id="12" name="Text 10"/>
          <p:cNvSpPr txBox="1"/>
          <p:nvPr/>
        </p:nvSpPr>
        <p:spPr>
          <a:xfrm>
            <a:off x="804672" y="2651760"/>
            <a:ext cx="2468880" cy="310896"/>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Built-up / bare land</a:t>
            </a:r>
            <a:endParaRPr lang="en-US" sz="1200" dirty="0"/>
          </a:p>
        </p:txBody>
      </p:sp>
      <p:sp>
        <p:nvSpPr>
          <p:cNvPr id="13" name="Text 11"/>
          <p:cNvSpPr txBox="1"/>
          <p:nvPr/>
        </p:nvSpPr>
        <p:spPr>
          <a:xfrm>
            <a:off x="3355848" y="2651760"/>
            <a:ext cx="2377440" cy="310896"/>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yes</a:t>
            </a:r>
            <a:endParaRPr lang="en-US" sz="1200" dirty="0"/>
          </a:p>
        </p:txBody>
      </p:sp>
      <p:sp>
        <p:nvSpPr>
          <p:cNvPr id="14" name="Text 12"/>
          <p:cNvSpPr txBox="1"/>
          <p:nvPr/>
        </p:nvSpPr>
        <p:spPr>
          <a:xfrm>
            <a:off x="5916168" y="2651760"/>
            <a:ext cx="2377440" cy="310896"/>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yes</a:t>
            </a:r>
            <a:endParaRPr lang="en-US" sz="1200" dirty="0"/>
          </a:p>
        </p:txBody>
      </p:sp>
      <p:sp>
        <p:nvSpPr>
          <p:cNvPr id="15" name="Text 13"/>
          <p:cNvSpPr txBox="1"/>
          <p:nvPr/>
        </p:nvSpPr>
        <p:spPr>
          <a:xfrm>
            <a:off x="804672" y="3108960"/>
            <a:ext cx="2468880" cy="310896"/>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Near a mapped factory</a:t>
            </a:r>
            <a:endParaRPr lang="en-US" sz="1200" dirty="0"/>
          </a:p>
        </p:txBody>
      </p:sp>
      <p:sp>
        <p:nvSpPr>
          <p:cNvPr id="16" name="Text 14"/>
          <p:cNvSpPr txBox="1"/>
          <p:nvPr/>
        </p:nvSpPr>
        <p:spPr>
          <a:xfrm>
            <a:off x="3355848" y="3108960"/>
            <a:ext cx="2377440" cy="310896"/>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yes</a:t>
            </a:r>
            <a:endParaRPr lang="en-US" sz="1200" dirty="0"/>
          </a:p>
        </p:txBody>
      </p:sp>
      <p:sp>
        <p:nvSpPr>
          <p:cNvPr id="17" name="Text 15"/>
          <p:cNvSpPr txBox="1"/>
          <p:nvPr/>
        </p:nvSpPr>
        <p:spPr>
          <a:xfrm>
            <a:off x="5916168" y="3108960"/>
            <a:ext cx="2377440" cy="310896"/>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yes</a:t>
            </a:r>
            <a:endParaRPr lang="en-US" sz="1200" dirty="0"/>
          </a:p>
        </p:txBody>
      </p:sp>
      <p:sp>
        <p:nvSpPr>
          <p:cNvPr id="18" name="Shape 16"/>
          <p:cNvSpPr/>
          <p:nvPr/>
        </p:nvSpPr>
        <p:spPr>
          <a:xfrm>
            <a:off x="676656" y="3493008"/>
            <a:ext cx="7552944" cy="411480"/>
          </a:xfrm>
          <a:prstGeom prst="roundRect">
            <a:avLst>
              <a:gd name="adj" fmla="val 11111"/>
            </a:avLst>
          </a:prstGeom>
          <a:solidFill>
            <a:srgbClr val="1C2739"/>
          </a:solidFill>
          <a:ln/>
        </p:spPr>
      </p:sp>
      <p:sp>
        <p:nvSpPr>
          <p:cNvPr id="19" name="Text 17"/>
          <p:cNvSpPr txBox="1"/>
          <p:nvPr/>
        </p:nvSpPr>
        <p:spPr>
          <a:xfrm>
            <a:off x="804672" y="3566160"/>
            <a:ext cx="2468880" cy="31089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Detection days in 90</a:t>
            </a:r>
            <a:endParaRPr lang="en-US" sz="1200" dirty="0"/>
          </a:p>
        </p:txBody>
      </p:sp>
      <p:sp>
        <p:nvSpPr>
          <p:cNvPr id="20" name="Text 18"/>
          <p:cNvSpPr txBox="1"/>
          <p:nvPr/>
        </p:nvSpPr>
        <p:spPr>
          <a:xfrm>
            <a:off x="3355848" y="3566160"/>
            <a:ext cx="2377440" cy="310896"/>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48 of 90</a:t>
            </a:r>
            <a:endParaRPr lang="en-US" sz="1200" dirty="0"/>
          </a:p>
        </p:txBody>
      </p:sp>
      <p:sp>
        <p:nvSpPr>
          <p:cNvPr id="21" name="Text 19"/>
          <p:cNvSpPr txBox="1"/>
          <p:nvPr/>
        </p:nvSpPr>
        <p:spPr>
          <a:xfrm>
            <a:off x="5916168" y="3566160"/>
            <a:ext cx="2377440" cy="310896"/>
          </a:xfrm>
          <a:prstGeom prst="rect">
            <a:avLst/>
          </a:prstGeom>
          <a:noFill/>
          <a:ln/>
        </p:spPr>
        <p:txBody>
          <a:bodyPr wrap="square" lIns="0" tIns="0" rIns="0" bIns="0"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1 to 3 of 90</a:t>
            </a:r>
            <a:endParaRPr lang="en-US" sz="1200" dirty="0"/>
          </a:p>
        </p:txBody>
      </p:sp>
      <p:sp>
        <p:nvSpPr>
          <p:cNvPr id="22" name="Shape 20"/>
          <p:cNvSpPr/>
          <p:nvPr/>
        </p:nvSpPr>
        <p:spPr>
          <a:xfrm>
            <a:off x="676656" y="3950208"/>
            <a:ext cx="7552944" cy="411480"/>
          </a:xfrm>
          <a:prstGeom prst="roundRect">
            <a:avLst>
              <a:gd name="adj" fmla="val 11111"/>
            </a:avLst>
          </a:prstGeom>
          <a:solidFill>
            <a:srgbClr val="1C2739"/>
          </a:solidFill>
          <a:ln/>
        </p:spPr>
      </p:sp>
      <p:sp>
        <p:nvSpPr>
          <p:cNvPr id="23" name="Text 21"/>
          <p:cNvSpPr txBox="1"/>
          <p:nvPr/>
        </p:nvSpPr>
        <p:spPr>
          <a:xfrm>
            <a:off x="804672" y="4023360"/>
            <a:ext cx="2468880" cy="31089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Radiative power</a:t>
            </a:r>
            <a:endParaRPr lang="en-US" sz="1200" dirty="0"/>
          </a:p>
        </p:txBody>
      </p:sp>
      <p:sp>
        <p:nvSpPr>
          <p:cNvPr id="24" name="Text 22"/>
          <p:cNvSpPr txBox="1"/>
          <p:nvPr/>
        </p:nvSpPr>
        <p:spPr>
          <a:xfrm>
            <a:off x="3355848" y="4023360"/>
            <a:ext cx="2377440" cy="310896"/>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sustained, months</a:t>
            </a:r>
            <a:endParaRPr lang="en-US" sz="1200" dirty="0"/>
          </a:p>
        </p:txBody>
      </p:sp>
      <p:sp>
        <p:nvSpPr>
          <p:cNvPr id="25" name="Text 23"/>
          <p:cNvSpPr txBox="1"/>
          <p:nvPr/>
        </p:nvSpPr>
        <p:spPr>
          <a:xfrm>
            <a:off x="5916168" y="4023360"/>
            <a:ext cx="2377440" cy="310896"/>
          </a:xfrm>
          <a:prstGeom prst="rect">
            <a:avLst/>
          </a:prstGeom>
          <a:noFill/>
          <a:ln/>
        </p:spPr>
        <p:txBody>
          <a:bodyPr wrap="square" lIns="0" tIns="0" rIns="0" bIns="0"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short spike</a:t>
            </a:r>
            <a:endParaRPr lang="en-US" sz="1200" dirty="0"/>
          </a:p>
        </p:txBody>
      </p:sp>
      <p:sp>
        <p:nvSpPr>
          <p:cNvPr id="26" name="Shape 24"/>
          <p:cNvSpPr/>
          <p:nvPr/>
        </p:nvSpPr>
        <p:spPr>
          <a:xfrm>
            <a:off x="8668512" y="1627632"/>
            <a:ext cx="2953512" cy="2907792"/>
          </a:xfrm>
          <a:prstGeom prst="roundRect">
            <a:avLst>
              <a:gd name="adj" fmla="val 2516"/>
            </a:avLst>
          </a:prstGeom>
          <a:solidFill>
            <a:srgbClr val="1C2739"/>
          </a:solidFill>
          <a:ln w="15875">
            <a:solidFill>
              <a:srgbClr val="F97316"/>
            </a:solidFill>
            <a:prstDash val="solid"/>
          </a:ln>
        </p:spPr>
      </p:sp>
      <p:sp>
        <p:nvSpPr>
          <p:cNvPr id="27" name="Text 25"/>
          <p:cNvSpPr txBox="1"/>
          <p:nvPr/>
        </p:nvSpPr>
        <p:spPr>
          <a:xfrm>
            <a:off x="8924544" y="1883664"/>
            <a:ext cx="2468880" cy="1133856"/>
          </a:xfrm>
          <a:prstGeom prst="rect">
            <a:avLst/>
          </a:prstGeom>
          <a:noFill/>
          <a:ln/>
        </p:spPr>
        <p:txBody>
          <a:bodyPr wrap="square" lIns="0" tIns="0" rIns="0" bIns="0" rtlCol="0" anchor="ctr"/>
          <a:lstStyle/>
          <a:p>
            <a:pPr indent="0" marL="0">
              <a:lnSpc>
                <a:spcPts val="2500"/>
              </a:lnSpc>
              <a:buNone/>
            </a:pPr>
            <a:r>
              <a:rPr lang="en-US" sz="1900" b="1" dirty="0">
                <a:solidFill>
                  <a:srgbClr val="F1F5F9"/>
                </a:solidFill>
                <a:latin typeface="Arial" pitchFamily="34" charset="0"/>
                <a:ea typeface="Arial" pitchFamily="34" charset="-122"/>
                <a:cs typeface="Arial" pitchFamily="34" charset="-120"/>
              </a:rPr>
              <a:t>So we classify</a:t>
            </a:r>
            <a:endParaRPr lang="en-US" sz="1900" dirty="0"/>
          </a:p>
          <a:p>
            <a:pPr indent="0" marL="0">
              <a:lnSpc>
                <a:spcPts val="2500"/>
              </a:lnSpc>
              <a:buNone/>
            </a:pPr>
            <a:r>
              <a:rPr lang="en-US" sz="1900" b="1" dirty="0">
                <a:solidFill>
                  <a:srgbClr val="F1F5F9"/>
                </a:solidFill>
                <a:latin typeface="Arial" pitchFamily="34" charset="0"/>
                <a:ea typeface="Arial" pitchFamily="34" charset="-122"/>
                <a:cs typeface="Arial" pitchFamily="34" charset="-120"/>
              </a:rPr>
              <a:t>locations,</a:t>
            </a:r>
            <a:endParaRPr lang="en-US" sz="1900" dirty="0"/>
          </a:p>
          <a:p>
            <a:pPr indent="0" marL="0">
              <a:lnSpc>
                <a:spcPts val="2500"/>
              </a:lnSpc>
              <a:buNone/>
            </a:pPr>
            <a:r>
              <a:rPr lang="en-US" sz="1900" b="1" dirty="0">
                <a:solidFill>
                  <a:srgbClr val="F1F5F9"/>
                </a:solidFill>
                <a:latin typeface="Arial" pitchFamily="34" charset="0"/>
                <a:ea typeface="Arial" pitchFamily="34" charset="-122"/>
                <a:cs typeface="Arial" pitchFamily="34" charset="-120"/>
              </a:rPr>
              <a:t>not detections.</a:t>
            </a:r>
            <a:endParaRPr lang="en-US" sz="1900" dirty="0"/>
          </a:p>
        </p:txBody>
      </p:sp>
      <p:sp>
        <p:nvSpPr>
          <p:cNvPr id="28" name="Text 26"/>
          <p:cNvSpPr txBox="1"/>
          <p:nvPr/>
        </p:nvSpPr>
        <p:spPr>
          <a:xfrm>
            <a:off x="8924544" y="3127248"/>
            <a:ext cx="2468880" cy="64008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Grouping detections by place is what makes history visible.</a:t>
            </a:r>
            <a:endParaRPr lang="en-US" sz="1150" dirty="0"/>
          </a:p>
        </p:txBody>
      </p:sp>
      <p:sp>
        <p:nvSpPr>
          <p:cNvPr id="29" name="Shape 27"/>
          <p:cNvSpPr/>
          <p:nvPr/>
        </p:nvSpPr>
        <p:spPr>
          <a:xfrm>
            <a:off x="566928" y="4828032"/>
            <a:ext cx="3054096" cy="1133856"/>
          </a:xfrm>
          <a:prstGeom prst="roundRect">
            <a:avLst>
              <a:gd name="adj" fmla="val 6452"/>
            </a:avLst>
          </a:prstGeom>
          <a:solidFill>
            <a:srgbClr val="16202F"/>
          </a:solidFill>
          <a:ln w="12700">
            <a:solidFill>
              <a:srgbClr val="2A3646"/>
            </a:solidFill>
            <a:prstDash val="solid"/>
          </a:ln>
        </p:spPr>
      </p:sp>
      <p:sp>
        <p:nvSpPr>
          <p:cNvPr id="30" name="Text 28"/>
          <p:cNvSpPr txBox="1"/>
          <p:nvPr/>
        </p:nvSpPr>
        <p:spPr>
          <a:xfrm>
            <a:off x="786384" y="4983480"/>
            <a:ext cx="1463040" cy="274320"/>
          </a:xfrm>
          <a:prstGeom prst="rect">
            <a:avLst/>
          </a:prstGeom>
          <a:noFill/>
          <a:ln/>
        </p:spPr>
        <p:txBody>
          <a:bodyPr wrap="square" lIns="0" tIns="0" rIns="0" bIns="0" rtlCol="0" anchor="ctr"/>
          <a:lstStyle/>
          <a:p>
            <a:pPr indent="0" marL="0">
              <a:buNone/>
            </a:pPr>
            <a:r>
              <a:rPr lang="en-US" sz="1050" b="1" spc="120" kern="0" dirty="0">
                <a:solidFill>
                  <a:srgbClr val="F97316"/>
                </a:solidFill>
                <a:latin typeface="Arial" pitchFamily="34" charset="0"/>
                <a:ea typeface="Arial" pitchFamily="34" charset="-122"/>
                <a:cs typeface="Arial" pitchFamily="34" charset="-120"/>
              </a:rPr>
              <a:t>DETECTION</a:t>
            </a:r>
            <a:endParaRPr lang="en-US" sz="1050" dirty="0"/>
          </a:p>
        </p:txBody>
      </p:sp>
      <p:sp>
        <p:nvSpPr>
          <p:cNvPr id="31" name="Text 29"/>
          <p:cNvSpPr txBox="1"/>
          <p:nvPr/>
        </p:nvSpPr>
        <p:spPr>
          <a:xfrm>
            <a:off x="786384" y="5285232"/>
            <a:ext cx="1371600" cy="566928"/>
          </a:xfrm>
          <a:prstGeom prst="rect">
            <a:avLst/>
          </a:prstGeom>
          <a:noFill/>
          <a:ln/>
        </p:spPr>
        <p:txBody>
          <a:bodyPr wrap="square" lIns="0" tIns="0" rIns="0" bIns="0" rtlCol="0" anchor="ctr"/>
          <a:lstStyle/>
          <a:p>
            <a:pPr indent="0" marL="0">
              <a:buNone/>
            </a:pPr>
            <a:r>
              <a:rPr lang="en-US" sz="2800" b="1" dirty="0">
                <a:solidFill>
                  <a:srgbClr val="F1F5F9"/>
                </a:solidFill>
                <a:latin typeface="Arial" pitchFamily="34" charset="0"/>
                <a:ea typeface="Arial" pitchFamily="34" charset="-122"/>
                <a:cs typeface="Arial" pitchFamily="34" charset="-120"/>
              </a:rPr>
              <a:t>1,522</a:t>
            </a:r>
            <a:endParaRPr lang="en-US" sz="2800" dirty="0"/>
          </a:p>
        </p:txBody>
      </p:sp>
      <p:sp>
        <p:nvSpPr>
          <p:cNvPr id="32" name="Text 30"/>
          <p:cNvSpPr txBox="1"/>
          <p:nvPr/>
        </p:nvSpPr>
        <p:spPr>
          <a:xfrm>
            <a:off x="2139696" y="5303520"/>
            <a:ext cx="1316736" cy="603504"/>
          </a:xfrm>
          <a:prstGeom prst="rect">
            <a:avLst/>
          </a:prstGeom>
          <a:noFill/>
          <a:ln/>
        </p:spPr>
        <p:txBody>
          <a:bodyPr wrap="square" lIns="0" tIns="0" rIns="0" bIns="0" rtlCol="0" anchor="ctr"/>
          <a:lstStyle/>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one anomaly,</a:t>
            </a:r>
            <a:endParaRPr lang="en-US" sz="1050" dirty="0"/>
          </a:p>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one moment</a:t>
            </a:r>
            <a:endParaRPr lang="en-US" sz="1050" dirty="0"/>
          </a:p>
        </p:txBody>
      </p:sp>
      <p:sp>
        <p:nvSpPr>
          <p:cNvPr id="33" name="Text 31"/>
          <p:cNvSpPr txBox="1"/>
          <p:nvPr/>
        </p:nvSpPr>
        <p:spPr>
          <a:xfrm>
            <a:off x="3877056" y="5193792"/>
            <a:ext cx="694944" cy="457200"/>
          </a:xfrm>
          <a:prstGeom prst="rect">
            <a:avLst/>
          </a:prstGeom>
          <a:noFill/>
          <a:ln/>
        </p:spPr>
        <p:txBody>
          <a:bodyPr wrap="square" lIns="0" tIns="0" rIns="0" bIns="0" rtlCol="0" anchor="ctr"/>
          <a:lstStyle/>
          <a:p>
            <a:pPr algn="ctr" indent="0" marL="0">
              <a:buNone/>
            </a:pPr>
            <a:r>
              <a:rPr lang="en-US" sz="2600" dirty="0">
                <a:solidFill>
                  <a:srgbClr val="F97316"/>
                </a:solidFill>
                <a:latin typeface="Calibri" pitchFamily="34" charset="0"/>
                <a:ea typeface="Calibri" pitchFamily="34" charset="-122"/>
                <a:cs typeface="Calibri" pitchFamily="34" charset="-120"/>
              </a:rPr>
              <a:t>→</a:t>
            </a:r>
            <a:endParaRPr lang="en-US" sz="2600" dirty="0"/>
          </a:p>
        </p:txBody>
      </p:sp>
      <p:sp>
        <p:nvSpPr>
          <p:cNvPr id="34" name="Shape 32"/>
          <p:cNvSpPr/>
          <p:nvPr/>
        </p:nvSpPr>
        <p:spPr>
          <a:xfrm>
            <a:off x="4828032" y="4828032"/>
            <a:ext cx="3054096" cy="1133856"/>
          </a:xfrm>
          <a:prstGeom prst="roundRect">
            <a:avLst>
              <a:gd name="adj" fmla="val 6452"/>
            </a:avLst>
          </a:prstGeom>
          <a:solidFill>
            <a:srgbClr val="16202F"/>
          </a:solidFill>
          <a:ln w="12700">
            <a:solidFill>
              <a:srgbClr val="2A3646"/>
            </a:solidFill>
            <a:prstDash val="solid"/>
          </a:ln>
        </p:spPr>
      </p:sp>
      <p:sp>
        <p:nvSpPr>
          <p:cNvPr id="35" name="Text 33"/>
          <p:cNvSpPr txBox="1"/>
          <p:nvPr/>
        </p:nvSpPr>
        <p:spPr>
          <a:xfrm>
            <a:off x="5047488" y="4983480"/>
            <a:ext cx="1463040" cy="274320"/>
          </a:xfrm>
          <a:prstGeom prst="rect">
            <a:avLst/>
          </a:prstGeom>
          <a:noFill/>
          <a:ln/>
        </p:spPr>
        <p:txBody>
          <a:bodyPr wrap="square" lIns="0" tIns="0" rIns="0" bIns="0" rtlCol="0" anchor="ctr"/>
          <a:lstStyle/>
          <a:p>
            <a:pPr indent="0" marL="0">
              <a:buNone/>
            </a:pPr>
            <a:r>
              <a:rPr lang="en-US" sz="1050" b="1" spc="120" kern="0" dirty="0">
                <a:solidFill>
                  <a:srgbClr val="F97316"/>
                </a:solidFill>
                <a:latin typeface="Arial" pitchFamily="34" charset="0"/>
                <a:ea typeface="Arial" pitchFamily="34" charset="-122"/>
                <a:cs typeface="Arial" pitchFamily="34" charset="-120"/>
              </a:rPr>
              <a:t>SITE</a:t>
            </a:r>
            <a:endParaRPr lang="en-US" sz="1050" dirty="0"/>
          </a:p>
        </p:txBody>
      </p:sp>
      <p:sp>
        <p:nvSpPr>
          <p:cNvPr id="36" name="Text 34"/>
          <p:cNvSpPr txBox="1"/>
          <p:nvPr/>
        </p:nvSpPr>
        <p:spPr>
          <a:xfrm>
            <a:off x="5047488" y="5285232"/>
            <a:ext cx="1371600" cy="566928"/>
          </a:xfrm>
          <a:prstGeom prst="rect">
            <a:avLst/>
          </a:prstGeom>
          <a:noFill/>
          <a:ln/>
        </p:spPr>
        <p:txBody>
          <a:bodyPr wrap="square" lIns="0" tIns="0" rIns="0" bIns="0" rtlCol="0" anchor="ctr"/>
          <a:lstStyle/>
          <a:p>
            <a:pPr indent="0" marL="0">
              <a:buNone/>
            </a:pPr>
            <a:r>
              <a:rPr lang="en-US" sz="2800" b="1" dirty="0">
                <a:solidFill>
                  <a:srgbClr val="F1F5F9"/>
                </a:solidFill>
                <a:latin typeface="Arial" pitchFamily="34" charset="0"/>
                <a:ea typeface="Arial" pitchFamily="34" charset="-122"/>
                <a:cs typeface="Arial" pitchFamily="34" charset="-120"/>
              </a:rPr>
              <a:t>556</a:t>
            </a:r>
            <a:endParaRPr lang="en-US" sz="2800" dirty="0"/>
          </a:p>
        </p:txBody>
      </p:sp>
      <p:sp>
        <p:nvSpPr>
          <p:cNvPr id="37" name="Text 35"/>
          <p:cNvSpPr txBox="1"/>
          <p:nvPr/>
        </p:nvSpPr>
        <p:spPr>
          <a:xfrm>
            <a:off x="6400800" y="5303520"/>
            <a:ext cx="1316736" cy="603504"/>
          </a:xfrm>
          <a:prstGeom prst="rect">
            <a:avLst/>
          </a:prstGeom>
          <a:noFill/>
          <a:ln/>
        </p:spPr>
        <p:txBody>
          <a:bodyPr wrap="square" lIns="0" tIns="0" rIns="0" bIns="0" rtlCol="0" anchor="ctr"/>
          <a:lstStyle/>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a location with</a:t>
            </a:r>
            <a:endParaRPr lang="en-US" sz="1050" dirty="0"/>
          </a:p>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a history</a:t>
            </a:r>
            <a:endParaRPr lang="en-US" sz="1050" dirty="0"/>
          </a:p>
        </p:txBody>
      </p:sp>
      <p:sp>
        <p:nvSpPr>
          <p:cNvPr id="38" name="Text 36"/>
          <p:cNvSpPr txBox="1"/>
          <p:nvPr/>
        </p:nvSpPr>
        <p:spPr>
          <a:xfrm>
            <a:off x="8138160" y="5193792"/>
            <a:ext cx="694944" cy="457200"/>
          </a:xfrm>
          <a:prstGeom prst="rect">
            <a:avLst/>
          </a:prstGeom>
          <a:noFill/>
          <a:ln/>
        </p:spPr>
        <p:txBody>
          <a:bodyPr wrap="square" lIns="0" tIns="0" rIns="0" bIns="0" rtlCol="0" anchor="ctr"/>
          <a:lstStyle/>
          <a:p>
            <a:pPr algn="ctr" indent="0" marL="0">
              <a:buNone/>
            </a:pPr>
            <a:r>
              <a:rPr lang="en-US" sz="2600" dirty="0">
                <a:solidFill>
                  <a:srgbClr val="F97316"/>
                </a:solidFill>
                <a:latin typeface="Calibri" pitchFamily="34" charset="0"/>
                <a:ea typeface="Calibri" pitchFamily="34" charset="-122"/>
                <a:cs typeface="Calibri" pitchFamily="34" charset="-120"/>
              </a:rPr>
              <a:t>→</a:t>
            </a:r>
            <a:endParaRPr lang="en-US" sz="2600" dirty="0"/>
          </a:p>
        </p:txBody>
      </p:sp>
      <p:sp>
        <p:nvSpPr>
          <p:cNvPr id="39" name="Shape 37"/>
          <p:cNvSpPr/>
          <p:nvPr/>
        </p:nvSpPr>
        <p:spPr>
          <a:xfrm>
            <a:off x="9089136" y="4828032"/>
            <a:ext cx="3054096" cy="1133856"/>
          </a:xfrm>
          <a:prstGeom prst="roundRect">
            <a:avLst>
              <a:gd name="adj" fmla="val 6452"/>
            </a:avLst>
          </a:prstGeom>
          <a:solidFill>
            <a:srgbClr val="16202F"/>
          </a:solidFill>
          <a:ln w="12700">
            <a:solidFill>
              <a:srgbClr val="2A3646"/>
            </a:solidFill>
            <a:prstDash val="solid"/>
          </a:ln>
        </p:spPr>
      </p:sp>
      <p:sp>
        <p:nvSpPr>
          <p:cNvPr id="40" name="Text 38"/>
          <p:cNvSpPr txBox="1"/>
          <p:nvPr/>
        </p:nvSpPr>
        <p:spPr>
          <a:xfrm>
            <a:off x="9308592" y="4983480"/>
            <a:ext cx="1463040" cy="274320"/>
          </a:xfrm>
          <a:prstGeom prst="rect">
            <a:avLst/>
          </a:prstGeom>
          <a:noFill/>
          <a:ln/>
        </p:spPr>
        <p:txBody>
          <a:bodyPr wrap="square" lIns="0" tIns="0" rIns="0" bIns="0" rtlCol="0" anchor="ctr"/>
          <a:lstStyle/>
          <a:p>
            <a:pPr indent="0" marL="0">
              <a:buNone/>
            </a:pPr>
            <a:r>
              <a:rPr lang="en-US" sz="1050" b="1" spc="120" kern="0" dirty="0">
                <a:solidFill>
                  <a:srgbClr val="F97316"/>
                </a:solidFill>
                <a:latin typeface="Arial" pitchFamily="34" charset="0"/>
                <a:ea typeface="Arial" pitchFamily="34" charset="-122"/>
                <a:cs typeface="Arial" pitchFamily="34" charset="-120"/>
              </a:rPr>
              <a:t>EPISODE</a:t>
            </a:r>
            <a:endParaRPr lang="en-US" sz="1050" dirty="0"/>
          </a:p>
        </p:txBody>
      </p:sp>
      <p:sp>
        <p:nvSpPr>
          <p:cNvPr id="41" name="Text 39"/>
          <p:cNvSpPr txBox="1"/>
          <p:nvPr/>
        </p:nvSpPr>
        <p:spPr>
          <a:xfrm>
            <a:off x="9308592" y="5285232"/>
            <a:ext cx="1371600" cy="566928"/>
          </a:xfrm>
          <a:prstGeom prst="rect">
            <a:avLst/>
          </a:prstGeom>
          <a:noFill/>
          <a:ln/>
        </p:spPr>
        <p:txBody>
          <a:bodyPr wrap="square" lIns="0" tIns="0" rIns="0" bIns="0" rtlCol="0" anchor="ctr"/>
          <a:lstStyle/>
          <a:p>
            <a:pPr indent="0" marL="0">
              <a:buNone/>
            </a:pPr>
            <a:r>
              <a:rPr lang="en-US" sz="2800" b="1" dirty="0">
                <a:solidFill>
                  <a:srgbClr val="F1F5F9"/>
                </a:solidFill>
                <a:latin typeface="Arial" pitchFamily="34" charset="0"/>
                <a:ea typeface="Arial" pitchFamily="34" charset="-122"/>
                <a:cs typeface="Arial" pitchFamily="34" charset="-120"/>
              </a:rPr>
              <a:t>663</a:t>
            </a:r>
            <a:endParaRPr lang="en-US" sz="2800" dirty="0"/>
          </a:p>
        </p:txBody>
      </p:sp>
      <p:sp>
        <p:nvSpPr>
          <p:cNvPr id="42" name="Text 40"/>
          <p:cNvSpPr txBox="1"/>
          <p:nvPr/>
        </p:nvSpPr>
        <p:spPr>
          <a:xfrm>
            <a:off x="10661904" y="5303520"/>
            <a:ext cx="1316736" cy="603504"/>
          </a:xfrm>
          <a:prstGeom prst="rect">
            <a:avLst/>
          </a:prstGeom>
          <a:noFill/>
          <a:ln/>
        </p:spPr>
        <p:txBody>
          <a:bodyPr wrap="square" lIns="0" tIns="0" rIns="0" bIns="0" rtlCol="0" anchor="ctr"/>
          <a:lstStyle/>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one continuous</a:t>
            </a:r>
            <a:endParaRPr lang="en-US" sz="1050" dirty="0"/>
          </a:p>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burn, gap-bounded</a:t>
            </a:r>
            <a:endParaRPr lang="en-US" sz="1050" dirty="0"/>
          </a:p>
        </p:txBody>
      </p:sp>
      <p:sp>
        <p:nvSpPr>
          <p:cNvPr id="44" name="Text 41"/>
          <p:cNvSpPr txBox="1"/>
          <p:nvPr/>
        </p:nvSpPr>
        <p:spPr>
          <a:xfrm>
            <a:off x="566928" y="6345936"/>
            <a:ext cx="64008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AgniDrishti  ·  PS 26162  ·  AsyncMavericks_SIH0162</a:t>
            </a:r>
            <a:endParaRPr lang="en-US" sz="950" dirty="0"/>
          </a:p>
        </p:txBody>
      </p:sp>
      <p:sp>
        <p:nvSpPr>
          <p:cNvPr id="45" name="Text 42"/>
          <p:cNvSpPr txBox="1"/>
          <p:nvPr/>
        </p:nvSpPr>
        <p:spPr>
          <a:xfrm>
            <a:off x="11076127" y="6345936"/>
            <a:ext cx="54864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566928"/>
          </a:xfrm>
          <a:prstGeom prst="rect">
            <a:avLst/>
          </a:prstGeom>
          <a:noFill/>
          <a:ln/>
        </p:spPr>
        <p:txBody>
          <a:bodyPr wrap="square" lIns="0" tIns="0" rIns="0" bIns="0" rtlCol="0" anchor="ctr"/>
          <a:lstStyle/>
          <a:p>
            <a:pPr indent="0" marL="0">
              <a:buNone/>
            </a:pPr>
            <a:r>
              <a:rPr lang="en-US" sz="3400" b="1" dirty="0">
                <a:solidFill>
                  <a:srgbClr val="F1F5F9"/>
                </a:solidFill>
                <a:latin typeface="Arial" pitchFamily="34" charset="0"/>
                <a:ea typeface="Arial" pitchFamily="34" charset="-122"/>
                <a:cs typeface="Arial" pitchFamily="34" charset="-120"/>
              </a:rPr>
              <a:t>The pipeline</a:t>
            </a:r>
            <a:endParaRPr lang="en-US" sz="3400" dirty="0"/>
          </a:p>
        </p:txBody>
      </p:sp>
      <p:sp>
        <p:nvSpPr>
          <p:cNvPr id="3" name="Text 1"/>
          <p:cNvSpPr txBox="1"/>
          <p:nvPr/>
        </p:nvSpPr>
        <p:spPr>
          <a:xfrm>
            <a:off x="566928" y="1024128"/>
            <a:ext cx="11057839" cy="310896"/>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Five stages, end to end — running today on live NASA data.</a:t>
            </a:r>
            <a:endParaRPr lang="en-US" sz="1500" dirty="0"/>
          </a:p>
        </p:txBody>
      </p:sp>
      <p:sp>
        <p:nvSpPr>
          <p:cNvPr id="4" name="Shape 2"/>
          <p:cNvSpPr/>
          <p:nvPr/>
        </p:nvSpPr>
        <p:spPr>
          <a:xfrm>
            <a:off x="566928" y="1700784"/>
            <a:ext cx="2084832" cy="2395728"/>
          </a:xfrm>
          <a:prstGeom prst="roundRect">
            <a:avLst>
              <a:gd name="adj" fmla="val 3509"/>
            </a:avLst>
          </a:prstGeom>
          <a:solidFill>
            <a:srgbClr val="16202F"/>
          </a:solidFill>
          <a:ln w="12700">
            <a:solidFill>
              <a:srgbClr val="2A3646"/>
            </a:solidFill>
            <a:prstDash val="solid"/>
          </a:ln>
        </p:spPr>
      </p:sp>
      <p:sp>
        <p:nvSpPr>
          <p:cNvPr id="5" name="Shape 3"/>
          <p:cNvSpPr/>
          <p:nvPr/>
        </p:nvSpPr>
        <p:spPr>
          <a:xfrm>
            <a:off x="768096" y="1920240"/>
            <a:ext cx="365760" cy="365760"/>
          </a:xfrm>
          <a:prstGeom prst="ellipse">
            <a:avLst/>
          </a:prstGeom>
          <a:solidFill>
            <a:srgbClr val="F97316"/>
          </a:solidFill>
          <a:ln/>
        </p:spPr>
      </p:sp>
      <p:sp>
        <p:nvSpPr>
          <p:cNvPr id="6" name="Text 4"/>
          <p:cNvSpPr txBox="1"/>
          <p:nvPr/>
        </p:nvSpPr>
        <p:spPr>
          <a:xfrm>
            <a:off x="768096" y="1965960"/>
            <a:ext cx="365760" cy="27432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768096" y="2414016"/>
            <a:ext cx="1682496" cy="292608"/>
          </a:xfrm>
          <a:prstGeom prst="rect">
            <a:avLst/>
          </a:prstGeom>
          <a:noFill/>
          <a:ln/>
        </p:spPr>
        <p:txBody>
          <a:bodyPr wrap="square" lIns="0" tIns="0" rIns="0" bIns="0" rtlCol="0" anchor="ctr"/>
          <a:lstStyle/>
          <a:p>
            <a:pPr indent="0" marL="0">
              <a:buNone/>
            </a:pPr>
            <a:r>
              <a:rPr lang="en-US" sz="1400" b="1" spc="60" kern="0" dirty="0">
                <a:solidFill>
                  <a:srgbClr val="F1F5F9"/>
                </a:solidFill>
                <a:latin typeface="Arial" pitchFamily="34" charset="0"/>
                <a:ea typeface="Arial" pitchFamily="34" charset="-122"/>
                <a:cs typeface="Arial" pitchFamily="34" charset="-120"/>
              </a:rPr>
              <a:t>INGEST</a:t>
            </a:r>
            <a:endParaRPr lang="en-US" sz="1400" dirty="0"/>
          </a:p>
        </p:txBody>
      </p:sp>
      <p:sp>
        <p:nvSpPr>
          <p:cNvPr id="8" name="Text 6"/>
          <p:cNvSpPr txBox="1"/>
          <p:nvPr/>
        </p:nvSpPr>
        <p:spPr>
          <a:xfrm>
            <a:off x="768096" y="2761488"/>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NASA FIRMS VIIRS,</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375 m resolution</a:t>
            </a:r>
            <a:endParaRPr lang="en-US" sz="1150" dirty="0"/>
          </a:p>
        </p:txBody>
      </p:sp>
      <p:sp>
        <p:nvSpPr>
          <p:cNvPr id="9" name="Text 7"/>
          <p:cNvSpPr txBox="1"/>
          <p:nvPr/>
        </p:nvSpPr>
        <p:spPr>
          <a:xfrm>
            <a:off x="768096" y="3438144"/>
            <a:ext cx="1682496" cy="530352"/>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Suomi-NPP + NOAA-20</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 NOAA-21 merged</a:t>
            </a:r>
            <a:endParaRPr lang="en-US" sz="1000" dirty="0"/>
          </a:p>
        </p:txBody>
      </p:sp>
      <p:sp>
        <p:nvSpPr>
          <p:cNvPr id="10" name="Text 8"/>
          <p:cNvSpPr txBox="1"/>
          <p:nvPr/>
        </p:nvSpPr>
        <p:spPr>
          <a:xfrm>
            <a:off x="2596896" y="2670048"/>
            <a:ext cx="365760" cy="365760"/>
          </a:xfrm>
          <a:prstGeom prst="rect">
            <a:avLst/>
          </a:prstGeom>
          <a:noFill/>
          <a:ln/>
        </p:spPr>
        <p:txBody>
          <a:bodyPr wrap="square" lIns="0" tIns="0" rIns="0" bIns="0" rtlCol="0" anchor="ctr"/>
          <a:lstStyle/>
          <a:p>
            <a:pPr algn="ctr" indent="0" marL="0">
              <a:buNone/>
            </a:pPr>
            <a:r>
              <a:rPr lang="en-US" sz="1900" dirty="0">
                <a:solidFill>
                  <a:srgbClr val="F97316"/>
                </a:solidFill>
                <a:latin typeface="Calibri" pitchFamily="34" charset="0"/>
                <a:ea typeface="Calibri" pitchFamily="34" charset="-122"/>
                <a:cs typeface="Calibri" pitchFamily="34" charset="-120"/>
              </a:rPr>
              <a:t>→</a:t>
            </a:r>
            <a:endParaRPr lang="en-US" sz="1900" dirty="0"/>
          </a:p>
        </p:txBody>
      </p:sp>
      <p:sp>
        <p:nvSpPr>
          <p:cNvPr id="11" name="Shape 9"/>
          <p:cNvSpPr/>
          <p:nvPr/>
        </p:nvSpPr>
        <p:spPr>
          <a:xfrm>
            <a:off x="2907792" y="1700784"/>
            <a:ext cx="2084832" cy="2395728"/>
          </a:xfrm>
          <a:prstGeom prst="roundRect">
            <a:avLst>
              <a:gd name="adj" fmla="val 3509"/>
            </a:avLst>
          </a:prstGeom>
          <a:solidFill>
            <a:srgbClr val="16202F"/>
          </a:solidFill>
          <a:ln w="12700">
            <a:solidFill>
              <a:srgbClr val="2A3646"/>
            </a:solidFill>
            <a:prstDash val="solid"/>
          </a:ln>
        </p:spPr>
      </p:sp>
      <p:sp>
        <p:nvSpPr>
          <p:cNvPr id="12" name="Shape 10"/>
          <p:cNvSpPr/>
          <p:nvPr/>
        </p:nvSpPr>
        <p:spPr>
          <a:xfrm>
            <a:off x="3108960" y="1920240"/>
            <a:ext cx="365760" cy="365760"/>
          </a:xfrm>
          <a:prstGeom prst="ellipse">
            <a:avLst/>
          </a:prstGeom>
          <a:solidFill>
            <a:srgbClr val="F97316"/>
          </a:solidFill>
          <a:ln/>
        </p:spPr>
      </p:sp>
      <p:sp>
        <p:nvSpPr>
          <p:cNvPr id="13" name="Text 11"/>
          <p:cNvSpPr txBox="1"/>
          <p:nvPr/>
        </p:nvSpPr>
        <p:spPr>
          <a:xfrm>
            <a:off x="3108960" y="1965960"/>
            <a:ext cx="365760" cy="27432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3108960" y="2414016"/>
            <a:ext cx="1682496" cy="292608"/>
          </a:xfrm>
          <a:prstGeom prst="rect">
            <a:avLst/>
          </a:prstGeom>
          <a:noFill/>
          <a:ln/>
        </p:spPr>
        <p:txBody>
          <a:bodyPr wrap="square" lIns="0" tIns="0" rIns="0" bIns="0" rtlCol="0" anchor="ctr"/>
          <a:lstStyle/>
          <a:p>
            <a:pPr indent="0" marL="0">
              <a:buNone/>
            </a:pPr>
            <a:r>
              <a:rPr lang="en-US" sz="1400" b="1" spc="60" kern="0" dirty="0">
                <a:solidFill>
                  <a:srgbClr val="F1F5F9"/>
                </a:solidFill>
                <a:latin typeface="Arial" pitchFamily="34" charset="0"/>
                <a:ea typeface="Arial" pitchFamily="34" charset="-122"/>
                <a:cs typeface="Arial" pitchFamily="34" charset="-120"/>
              </a:rPr>
              <a:t>CLUSTER</a:t>
            </a:r>
            <a:endParaRPr lang="en-US" sz="1400" dirty="0"/>
          </a:p>
        </p:txBody>
      </p:sp>
      <p:sp>
        <p:nvSpPr>
          <p:cNvPr id="15" name="Text 13"/>
          <p:cNvSpPr txBox="1"/>
          <p:nvPr/>
        </p:nvSpPr>
        <p:spPr>
          <a:xfrm>
            <a:off x="3108960" y="2761488"/>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Detections grouped</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by location</a:t>
            </a:r>
            <a:endParaRPr lang="en-US" sz="1150" dirty="0"/>
          </a:p>
        </p:txBody>
      </p:sp>
      <p:sp>
        <p:nvSpPr>
          <p:cNvPr id="16" name="Text 14"/>
          <p:cNvSpPr txBox="1"/>
          <p:nvPr/>
        </p:nvSpPr>
        <p:spPr>
          <a:xfrm>
            <a:off x="3108960" y="3438144"/>
            <a:ext cx="1682496" cy="530352"/>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0.005° grid; episodes</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cut at 10-day gaps</a:t>
            </a:r>
            <a:endParaRPr lang="en-US" sz="1000" dirty="0"/>
          </a:p>
        </p:txBody>
      </p:sp>
      <p:sp>
        <p:nvSpPr>
          <p:cNvPr id="17" name="Text 15"/>
          <p:cNvSpPr txBox="1"/>
          <p:nvPr/>
        </p:nvSpPr>
        <p:spPr>
          <a:xfrm>
            <a:off x="4937760" y="2670048"/>
            <a:ext cx="365760" cy="365760"/>
          </a:xfrm>
          <a:prstGeom prst="rect">
            <a:avLst/>
          </a:prstGeom>
          <a:noFill/>
          <a:ln/>
        </p:spPr>
        <p:txBody>
          <a:bodyPr wrap="square" lIns="0" tIns="0" rIns="0" bIns="0" rtlCol="0" anchor="ctr"/>
          <a:lstStyle/>
          <a:p>
            <a:pPr algn="ctr" indent="0" marL="0">
              <a:buNone/>
            </a:pPr>
            <a:r>
              <a:rPr lang="en-US" sz="1900" dirty="0">
                <a:solidFill>
                  <a:srgbClr val="F97316"/>
                </a:solidFill>
                <a:latin typeface="Calibri" pitchFamily="34" charset="0"/>
                <a:ea typeface="Calibri" pitchFamily="34" charset="-122"/>
                <a:cs typeface="Calibri" pitchFamily="34" charset="-120"/>
              </a:rPr>
              <a:t>→</a:t>
            </a:r>
            <a:endParaRPr lang="en-US" sz="1900" dirty="0"/>
          </a:p>
        </p:txBody>
      </p:sp>
      <p:sp>
        <p:nvSpPr>
          <p:cNvPr id="18" name="Shape 16"/>
          <p:cNvSpPr/>
          <p:nvPr/>
        </p:nvSpPr>
        <p:spPr>
          <a:xfrm>
            <a:off x="5248656" y="1700784"/>
            <a:ext cx="2084832" cy="2395728"/>
          </a:xfrm>
          <a:prstGeom prst="roundRect">
            <a:avLst>
              <a:gd name="adj" fmla="val 3509"/>
            </a:avLst>
          </a:prstGeom>
          <a:solidFill>
            <a:srgbClr val="16202F"/>
          </a:solidFill>
          <a:ln w="12700">
            <a:solidFill>
              <a:srgbClr val="2A3646"/>
            </a:solidFill>
            <a:prstDash val="solid"/>
          </a:ln>
        </p:spPr>
      </p:sp>
      <p:sp>
        <p:nvSpPr>
          <p:cNvPr id="19" name="Shape 17"/>
          <p:cNvSpPr/>
          <p:nvPr/>
        </p:nvSpPr>
        <p:spPr>
          <a:xfrm>
            <a:off x="5449824" y="1920240"/>
            <a:ext cx="365760" cy="365760"/>
          </a:xfrm>
          <a:prstGeom prst="ellipse">
            <a:avLst/>
          </a:prstGeom>
          <a:solidFill>
            <a:srgbClr val="F97316"/>
          </a:solidFill>
          <a:ln/>
        </p:spPr>
      </p:sp>
      <p:sp>
        <p:nvSpPr>
          <p:cNvPr id="20" name="Text 18"/>
          <p:cNvSpPr txBox="1"/>
          <p:nvPr/>
        </p:nvSpPr>
        <p:spPr>
          <a:xfrm>
            <a:off x="5449824" y="1965960"/>
            <a:ext cx="365760" cy="27432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5449824" y="2414016"/>
            <a:ext cx="1682496" cy="292608"/>
          </a:xfrm>
          <a:prstGeom prst="rect">
            <a:avLst/>
          </a:prstGeom>
          <a:noFill/>
          <a:ln/>
        </p:spPr>
        <p:txBody>
          <a:bodyPr wrap="square" lIns="0" tIns="0" rIns="0" bIns="0" rtlCol="0" anchor="ctr"/>
          <a:lstStyle/>
          <a:p>
            <a:pPr indent="0" marL="0">
              <a:buNone/>
            </a:pPr>
            <a:r>
              <a:rPr lang="en-US" sz="1400" b="1" spc="60" kern="0" dirty="0">
                <a:solidFill>
                  <a:srgbClr val="F1F5F9"/>
                </a:solidFill>
                <a:latin typeface="Arial" pitchFamily="34" charset="0"/>
                <a:ea typeface="Arial" pitchFamily="34" charset="-122"/>
                <a:cs typeface="Arial" pitchFamily="34" charset="-120"/>
              </a:rPr>
              <a:t>ENRICH</a:t>
            </a:r>
            <a:endParaRPr lang="en-US" sz="1400" dirty="0"/>
          </a:p>
        </p:txBody>
      </p:sp>
      <p:sp>
        <p:nvSpPr>
          <p:cNvPr id="22" name="Text 20"/>
          <p:cNvSpPr txBox="1"/>
          <p:nvPr/>
        </p:nvSpPr>
        <p:spPr>
          <a:xfrm>
            <a:off x="5449824" y="2761488"/>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Distance to industry</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 land cover</a:t>
            </a:r>
            <a:endParaRPr lang="en-US" sz="1150" dirty="0"/>
          </a:p>
        </p:txBody>
      </p:sp>
      <p:sp>
        <p:nvSpPr>
          <p:cNvPr id="23" name="Text 21"/>
          <p:cNvSpPr txBox="1"/>
          <p:nvPr/>
        </p:nvSpPr>
        <p:spPr>
          <a:xfrm>
            <a:off x="5449824" y="3438144"/>
            <a:ext cx="1682496" cy="530352"/>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OpenStreetMap ·</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Shapely R-tree</a:t>
            </a:r>
            <a:endParaRPr lang="en-US" sz="1000" dirty="0"/>
          </a:p>
        </p:txBody>
      </p:sp>
      <p:sp>
        <p:nvSpPr>
          <p:cNvPr id="24" name="Text 22"/>
          <p:cNvSpPr txBox="1"/>
          <p:nvPr/>
        </p:nvSpPr>
        <p:spPr>
          <a:xfrm>
            <a:off x="7278624" y="2670048"/>
            <a:ext cx="365760" cy="365760"/>
          </a:xfrm>
          <a:prstGeom prst="rect">
            <a:avLst/>
          </a:prstGeom>
          <a:noFill/>
          <a:ln/>
        </p:spPr>
        <p:txBody>
          <a:bodyPr wrap="square" lIns="0" tIns="0" rIns="0" bIns="0" rtlCol="0" anchor="ctr"/>
          <a:lstStyle/>
          <a:p>
            <a:pPr algn="ctr" indent="0" marL="0">
              <a:buNone/>
            </a:pPr>
            <a:r>
              <a:rPr lang="en-US" sz="1900" dirty="0">
                <a:solidFill>
                  <a:srgbClr val="F97316"/>
                </a:solidFill>
                <a:latin typeface="Calibri" pitchFamily="34" charset="0"/>
                <a:ea typeface="Calibri" pitchFamily="34" charset="-122"/>
                <a:cs typeface="Calibri" pitchFamily="34" charset="-120"/>
              </a:rPr>
              <a:t>→</a:t>
            </a:r>
            <a:endParaRPr lang="en-US" sz="1900" dirty="0"/>
          </a:p>
        </p:txBody>
      </p:sp>
      <p:sp>
        <p:nvSpPr>
          <p:cNvPr id="25" name="Shape 23"/>
          <p:cNvSpPr/>
          <p:nvPr/>
        </p:nvSpPr>
        <p:spPr>
          <a:xfrm>
            <a:off x="7589520" y="1700784"/>
            <a:ext cx="2084832" cy="2395728"/>
          </a:xfrm>
          <a:prstGeom prst="roundRect">
            <a:avLst>
              <a:gd name="adj" fmla="val 3509"/>
            </a:avLst>
          </a:prstGeom>
          <a:solidFill>
            <a:srgbClr val="16202F"/>
          </a:solidFill>
          <a:ln w="12700">
            <a:solidFill>
              <a:srgbClr val="2A3646"/>
            </a:solidFill>
            <a:prstDash val="solid"/>
          </a:ln>
        </p:spPr>
      </p:sp>
      <p:sp>
        <p:nvSpPr>
          <p:cNvPr id="26" name="Shape 24"/>
          <p:cNvSpPr/>
          <p:nvPr/>
        </p:nvSpPr>
        <p:spPr>
          <a:xfrm>
            <a:off x="7790688" y="1920240"/>
            <a:ext cx="365760" cy="365760"/>
          </a:xfrm>
          <a:prstGeom prst="ellipse">
            <a:avLst/>
          </a:prstGeom>
          <a:solidFill>
            <a:srgbClr val="F97316"/>
          </a:solidFill>
          <a:ln/>
        </p:spPr>
      </p:sp>
      <p:sp>
        <p:nvSpPr>
          <p:cNvPr id="27" name="Text 25"/>
          <p:cNvSpPr txBox="1"/>
          <p:nvPr/>
        </p:nvSpPr>
        <p:spPr>
          <a:xfrm>
            <a:off x="7790688" y="1965960"/>
            <a:ext cx="365760" cy="27432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4</a:t>
            </a:r>
            <a:endParaRPr lang="en-US" sz="1300" dirty="0"/>
          </a:p>
        </p:txBody>
      </p:sp>
      <p:sp>
        <p:nvSpPr>
          <p:cNvPr id="28" name="Text 26"/>
          <p:cNvSpPr txBox="1"/>
          <p:nvPr/>
        </p:nvSpPr>
        <p:spPr>
          <a:xfrm>
            <a:off x="7790688" y="2414016"/>
            <a:ext cx="1682496" cy="292608"/>
          </a:xfrm>
          <a:prstGeom prst="rect">
            <a:avLst/>
          </a:prstGeom>
          <a:noFill/>
          <a:ln/>
        </p:spPr>
        <p:txBody>
          <a:bodyPr wrap="square" lIns="0" tIns="0" rIns="0" bIns="0" rtlCol="0" anchor="ctr"/>
          <a:lstStyle/>
          <a:p>
            <a:pPr indent="0" marL="0">
              <a:buNone/>
            </a:pPr>
            <a:r>
              <a:rPr lang="en-US" sz="1400" b="1" spc="60" kern="0" dirty="0">
                <a:solidFill>
                  <a:srgbClr val="F1F5F9"/>
                </a:solidFill>
                <a:latin typeface="Arial" pitchFamily="34" charset="0"/>
                <a:ea typeface="Arial" pitchFamily="34" charset="-122"/>
                <a:cs typeface="Arial" pitchFamily="34" charset="-120"/>
              </a:rPr>
              <a:t>CLASSIFY</a:t>
            </a:r>
            <a:endParaRPr lang="en-US" sz="1400" dirty="0"/>
          </a:p>
        </p:txBody>
      </p:sp>
      <p:sp>
        <p:nvSpPr>
          <p:cNvPr id="29" name="Text 27"/>
          <p:cNvSpPr txBox="1"/>
          <p:nvPr/>
        </p:nvSpPr>
        <p:spPr>
          <a:xfrm>
            <a:off x="7790688" y="2761488"/>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Four classes, with</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the evidence</a:t>
            </a:r>
            <a:endParaRPr lang="en-US" sz="1150" dirty="0"/>
          </a:p>
        </p:txBody>
      </p:sp>
      <p:sp>
        <p:nvSpPr>
          <p:cNvPr id="30" name="Text 28"/>
          <p:cNvSpPr txBox="1"/>
          <p:nvPr/>
        </p:nvSpPr>
        <p:spPr>
          <a:xfrm>
            <a:off x="7790688" y="3438144"/>
            <a:ext cx="1682496" cy="530352"/>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Rules v1 behind a</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Protocol → RF v2</a:t>
            </a:r>
            <a:endParaRPr lang="en-US" sz="1000" dirty="0"/>
          </a:p>
        </p:txBody>
      </p:sp>
      <p:sp>
        <p:nvSpPr>
          <p:cNvPr id="31" name="Text 29"/>
          <p:cNvSpPr txBox="1"/>
          <p:nvPr/>
        </p:nvSpPr>
        <p:spPr>
          <a:xfrm>
            <a:off x="9619488" y="2670048"/>
            <a:ext cx="365760" cy="365760"/>
          </a:xfrm>
          <a:prstGeom prst="rect">
            <a:avLst/>
          </a:prstGeom>
          <a:noFill/>
          <a:ln/>
        </p:spPr>
        <p:txBody>
          <a:bodyPr wrap="square" lIns="0" tIns="0" rIns="0" bIns="0" rtlCol="0" anchor="ctr"/>
          <a:lstStyle/>
          <a:p>
            <a:pPr algn="ctr" indent="0" marL="0">
              <a:buNone/>
            </a:pPr>
            <a:r>
              <a:rPr lang="en-US" sz="1900" dirty="0">
                <a:solidFill>
                  <a:srgbClr val="F97316"/>
                </a:solidFill>
                <a:latin typeface="Calibri" pitchFamily="34" charset="0"/>
                <a:ea typeface="Calibri" pitchFamily="34" charset="-122"/>
                <a:cs typeface="Calibri" pitchFamily="34" charset="-120"/>
              </a:rPr>
              <a:t>→</a:t>
            </a:r>
            <a:endParaRPr lang="en-US" sz="1900" dirty="0"/>
          </a:p>
        </p:txBody>
      </p:sp>
      <p:sp>
        <p:nvSpPr>
          <p:cNvPr id="32" name="Shape 30"/>
          <p:cNvSpPr/>
          <p:nvPr/>
        </p:nvSpPr>
        <p:spPr>
          <a:xfrm>
            <a:off x="9930384" y="1700784"/>
            <a:ext cx="2084832" cy="2395728"/>
          </a:xfrm>
          <a:prstGeom prst="roundRect">
            <a:avLst>
              <a:gd name="adj" fmla="val 3509"/>
            </a:avLst>
          </a:prstGeom>
          <a:solidFill>
            <a:srgbClr val="16202F"/>
          </a:solidFill>
          <a:ln w="12700">
            <a:solidFill>
              <a:srgbClr val="2A3646"/>
            </a:solidFill>
            <a:prstDash val="solid"/>
          </a:ln>
        </p:spPr>
      </p:sp>
      <p:sp>
        <p:nvSpPr>
          <p:cNvPr id="33" name="Shape 31"/>
          <p:cNvSpPr/>
          <p:nvPr/>
        </p:nvSpPr>
        <p:spPr>
          <a:xfrm>
            <a:off x="10131552" y="1920240"/>
            <a:ext cx="365760" cy="365760"/>
          </a:xfrm>
          <a:prstGeom prst="ellipse">
            <a:avLst/>
          </a:prstGeom>
          <a:solidFill>
            <a:srgbClr val="F97316"/>
          </a:solidFill>
          <a:ln/>
        </p:spPr>
      </p:sp>
      <p:sp>
        <p:nvSpPr>
          <p:cNvPr id="34" name="Text 32"/>
          <p:cNvSpPr txBox="1"/>
          <p:nvPr/>
        </p:nvSpPr>
        <p:spPr>
          <a:xfrm>
            <a:off x="10131552" y="1965960"/>
            <a:ext cx="365760" cy="27432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5</a:t>
            </a:r>
            <a:endParaRPr lang="en-US" sz="1300" dirty="0"/>
          </a:p>
        </p:txBody>
      </p:sp>
      <p:sp>
        <p:nvSpPr>
          <p:cNvPr id="35" name="Text 33"/>
          <p:cNvSpPr txBox="1"/>
          <p:nvPr/>
        </p:nvSpPr>
        <p:spPr>
          <a:xfrm>
            <a:off x="10131552" y="2414016"/>
            <a:ext cx="1682496" cy="292608"/>
          </a:xfrm>
          <a:prstGeom prst="rect">
            <a:avLst/>
          </a:prstGeom>
          <a:noFill/>
          <a:ln/>
        </p:spPr>
        <p:txBody>
          <a:bodyPr wrap="square" lIns="0" tIns="0" rIns="0" bIns="0" rtlCol="0" anchor="ctr"/>
          <a:lstStyle/>
          <a:p>
            <a:pPr indent="0" marL="0">
              <a:buNone/>
            </a:pPr>
            <a:r>
              <a:rPr lang="en-US" sz="1400" b="1" spc="60" kern="0" dirty="0">
                <a:solidFill>
                  <a:srgbClr val="F1F5F9"/>
                </a:solidFill>
                <a:latin typeface="Arial" pitchFamily="34" charset="0"/>
                <a:ea typeface="Arial" pitchFamily="34" charset="-122"/>
                <a:cs typeface="Arial" pitchFamily="34" charset="-120"/>
              </a:rPr>
              <a:t>VISUALISE</a:t>
            </a:r>
            <a:endParaRPr lang="en-US" sz="1400" dirty="0"/>
          </a:p>
        </p:txBody>
      </p:sp>
      <p:sp>
        <p:nvSpPr>
          <p:cNvPr id="36" name="Text 34"/>
          <p:cNvSpPr txBox="1"/>
          <p:nvPr/>
        </p:nvSpPr>
        <p:spPr>
          <a:xfrm>
            <a:off x="10131552" y="2761488"/>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Map, filters,</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evidence panel</a:t>
            </a:r>
            <a:endParaRPr lang="en-US" sz="1150" dirty="0"/>
          </a:p>
        </p:txBody>
      </p:sp>
      <p:sp>
        <p:nvSpPr>
          <p:cNvPr id="37" name="Text 35"/>
          <p:cNvSpPr txBox="1"/>
          <p:nvPr/>
        </p:nvSpPr>
        <p:spPr>
          <a:xfrm>
            <a:off x="10131552" y="3438144"/>
            <a:ext cx="1682496" cy="530352"/>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Django · HTMX ·</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Leaflet · Plotly</a:t>
            </a:r>
            <a:endParaRPr lang="en-US" sz="1000" dirty="0"/>
          </a:p>
        </p:txBody>
      </p:sp>
      <p:sp>
        <p:nvSpPr>
          <p:cNvPr id="38" name="Shape 36"/>
          <p:cNvSpPr/>
          <p:nvPr/>
        </p:nvSpPr>
        <p:spPr>
          <a:xfrm>
            <a:off x="566928" y="4443984"/>
            <a:ext cx="6876288" cy="1298448"/>
          </a:xfrm>
          <a:prstGeom prst="roundRect">
            <a:avLst>
              <a:gd name="adj" fmla="val 5634"/>
            </a:avLst>
          </a:prstGeom>
          <a:solidFill>
            <a:srgbClr val="1C2739"/>
          </a:solidFill>
          <a:ln w="15875">
            <a:solidFill>
              <a:srgbClr val="F97316"/>
            </a:solidFill>
            <a:prstDash val="solid"/>
          </a:ln>
        </p:spPr>
      </p:sp>
      <p:sp>
        <p:nvSpPr>
          <p:cNvPr id="39" name="Text 37"/>
          <p:cNvSpPr txBox="1"/>
          <p:nvPr/>
        </p:nvSpPr>
        <p:spPr>
          <a:xfrm>
            <a:off x="914400" y="4645152"/>
            <a:ext cx="6217920" cy="347472"/>
          </a:xfrm>
          <a:prstGeom prst="rect">
            <a:avLst/>
          </a:prstGeom>
          <a:noFill/>
          <a:ln/>
        </p:spPr>
        <p:txBody>
          <a:bodyPr wrap="square" lIns="0" tIns="0" rIns="0" bIns="0" rtlCol="0" anchor="ctr"/>
          <a:lstStyle/>
          <a:p>
            <a:pPr indent="0" marL="0">
              <a:buNone/>
            </a:pPr>
            <a:r>
              <a:rPr lang="en-US" sz="1650" b="1" dirty="0">
                <a:solidFill>
                  <a:srgbClr val="F1F5F9"/>
                </a:solidFill>
                <a:latin typeface="Arial" pitchFamily="34" charset="0"/>
                <a:ea typeface="Arial" pitchFamily="34" charset="-122"/>
                <a:cs typeface="Arial" pitchFamily="34" charset="-120"/>
              </a:rPr>
              <a:t>Distance to industry is a feature. It is never a label.</a:t>
            </a:r>
            <a:endParaRPr lang="en-US" sz="1650" dirty="0"/>
          </a:p>
        </p:txBody>
      </p:sp>
      <p:sp>
        <p:nvSpPr>
          <p:cNvPr id="40" name="Text 38"/>
          <p:cNvSpPr txBox="1"/>
          <p:nvPr/>
        </p:nvSpPr>
        <p:spPr>
          <a:xfrm>
            <a:off x="914400" y="5047488"/>
            <a:ext cx="6217920" cy="566928"/>
          </a:xfrm>
          <a:prstGeom prst="rect">
            <a:avLst/>
          </a:prstGeom>
          <a:noFill/>
          <a:ln/>
        </p:spPr>
        <p:txBody>
          <a:bodyPr wrap="square" lIns="0" tIns="0" rIns="0" bIns="0" rtlCol="0" anchor="ctr"/>
          <a:lstStyle/>
          <a:p>
            <a:pPr indent="0" marL="0">
              <a:lnSpc>
                <a:spcPts val="1600"/>
              </a:lnSpc>
              <a:buNone/>
            </a:pPr>
            <a:r>
              <a:rPr lang="en-US" sz="1200" dirty="0">
                <a:solidFill>
                  <a:srgbClr val="94A3B8"/>
                </a:solidFill>
                <a:latin typeface="Calibri" pitchFamily="34" charset="0"/>
                <a:ea typeface="Calibri" pitchFamily="34" charset="-122"/>
                <a:cs typeface="Calibri" pitchFamily="34" charset="-120"/>
              </a:rPr>
              <a:t>If proximity decided the label and was also the model's input, the model would have learned nothing. Labels come from contextual verification, not from what sits next door.</a:t>
            </a:r>
            <a:endParaRPr lang="en-US" sz="1200" dirty="0"/>
          </a:p>
        </p:txBody>
      </p:sp>
      <p:sp>
        <p:nvSpPr>
          <p:cNvPr id="41" name="Text 39"/>
          <p:cNvSpPr txBox="1"/>
          <p:nvPr/>
        </p:nvSpPr>
        <p:spPr>
          <a:xfrm>
            <a:off x="7827264" y="4480560"/>
            <a:ext cx="3840480" cy="256032"/>
          </a:xfrm>
          <a:prstGeom prst="rect">
            <a:avLst/>
          </a:prstGeom>
          <a:noFill/>
          <a:ln/>
        </p:spPr>
        <p:txBody>
          <a:bodyPr wrap="square" lIns="0" tIns="0" rIns="0" bIns="0" rtlCol="0" anchor="ctr"/>
          <a:lstStyle/>
          <a:p>
            <a:pPr indent="0" marL="0">
              <a:buNone/>
            </a:pPr>
            <a:r>
              <a:rPr lang="en-US" sz="1000" b="1" spc="120" kern="0" dirty="0">
                <a:solidFill>
                  <a:srgbClr val="64748B"/>
                </a:solidFill>
                <a:latin typeface="Arial" pitchFamily="34" charset="0"/>
                <a:ea typeface="Arial" pitchFamily="34" charset="-122"/>
                <a:cs typeface="Arial" pitchFamily="34" charset="-120"/>
              </a:rPr>
              <a:t>FOUR OUTPUT CLASSES</a:t>
            </a:r>
            <a:endParaRPr lang="en-US" sz="1000" dirty="0"/>
          </a:p>
        </p:txBody>
      </p:sp>
      <p:sp>
        <p:nvSpPr>
          <p:cNvPr id="42" name="Shape 40"/>
          <p:cNvSpPr/>
          <p:nvPr/>
        </p:nvSpPr>
        <p:spPr>
          <a:xfrm>
            <a:off x="7868412" y="4850892"/>
            <a:ext cx="137160" cy="137160"/>
          </a:xfrm>
          <a:prstGeom prst="ellipse">
            <a:avLst/>
          </a:prstGeom>
          <a:solidFill>
            <a:srgbClr val="DC2626"/>
          </a:solidFill>
          <a:ln/>
        </p:spPr>
      </p:sp>
      <p:sp>
        <p:nvSpPr>
          <p:cNvPr id="43" name="Text 41"/>
          <p:cNvSpPr txBox="1"/>
          <p:nvPr/>
        </p:nvSpPr>
        <p:spPr>
          <a:xfrm>
            <a:off x="8119872" y="4800600"/>
            <a:ext cx="3566160" cy="23774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Industrial fire</a:t>
            </a:r>
            <a:endParaRPr lang="en-US" sz="1150" dirty="0"/>
          </a:p>
        </p:txBody>
      </p:sp>
      <p:sp>
        <p:nvSpPr>
          <p:cNvPr id="44" name="Shape 42"/>
          <p:cNvSpPr/>
          <p:nvPr/>
        </p:nvSpPr>
        <p:spPr>
          <a:xfrm>
            <a:off x="7868412" y="5097780"/>
            <a:ext cx="137160" cy="137160"/>
          </a:xfrm>
          <a:prstGeom prst="ellipse">
            <a:avLst/>
          </a:prstGeom>
          <a:solidFill>
            <a:srgbClr val="EA580C"/>
          </a:solidFill>
          <a:ln/>
        </p:spPr>
      </p:sp>
      <p:sp>
        <p:nvSpPr>
          <p:cNvPr id="45" name="Text 43"/>
          <p:cNvSpPr txBox="1"/>
          <p:nvPr/>
        </p:nvSpPr>
        <p:spPr>
          <a:xfrm>
            <a:off x="8119872" y="5047488"/>
            <a:ext cx="3566160" cy="23774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Persistent thermal source</a:t>
            </a:r>
            <a:endParaRPr lang="en-US" sz="1150" dirty="0"/>
          </a:p>
        </p:txBody>
      </p:sp>
      <p:sp>
        <p:nvSpPr>
          <p:cNvPr id="46" name="Shape 44"/>
          <p:cNvSpPr/>
          <p:nvPr/>
        </p:nvSpPr>
        <p:spPr>
          <a:xfrm>
            <a:off x="7868412" y="5344668"/>
            <a:ext cx="137160" cy="137160"/>
          </a:xfrm>
          <a:prstGeom prst="ellipse">
            <a:avLst/>
          </a:prstGeom>
          <a:solidFill>
            <a:srgbClr val="16A34A"/>
          </a:solidFill>
          <a:ln/>
        </p:spPr>
      </p:sp>
      <p:sp>
        <p:nvSpPr>
          <p:cNvPr id="47" name="Text 45"/>
          <p:cNvSpPr txBox="1"/>
          <p:nvPr/>
        </p:nvSpPr>
        <p:spPr>
          <a:xfrm>
            <a:off x="8119872" y="5294376"/>
            <a:ext cx="3566160" cy="23774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Vegetation fire</a:t>
            </a:r>
            <a:endParaRPr lang="en-US" sz="1150" dirty="0"/>
          </a:p>
        </p:txBody>
      </p:sp>
      <p:sp>
        <p:nvSpPr>
          <p:cNvPr id="48" name="Shape 46"/>
          <p:cNvSpPr/>
          <p:nvPr/>
        </p:nvSpPr>
        <p:spPr>
          <a:xfrm>
            <a:off x="7868412" y="5591556"/>
            <a:ext cx="137160" cy="137160"/>
          </a:xfrm>
          <a:prstGeom prst="ellipse">
            <a:avLst/>
          </a:prstGeom>
          <a:solidFill>
            <a:srgbClr val="9CA3AF"/>
          </a:solidFill>
          <a:ln/>
        </p:spPr>
      </p:sp>
      <p:sp>
        <p:nvSpPr>
          <p:cNvPr id="49" name="Text 47"/>
          <p:cNvSpPr txBox="1"/>
          <p:nvPr/>
        </p:nvSpPr>
        <p:spPr>
          <a:xfrm>
            <a:off x="8119872" y="5541264"/>
            <a:ext cx="3566160" cy="23774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Other / uncertain</a:t>
            </a:r>
            <a:endParaRPr lang="en-US" sz="1150" dirty="0"/>
          </a:p>
        </p:txBody>
      </p:sp>
      <p:sp>
        <p:nvSpPr>
          <p:cNvPr id="51" name="Text 48"/>
          <p:cNvSpPr txBox="1"/>
          <p:nvPr/>
        </p:nvSpPr>
        <p:spPr>
          <a:xfrm>
            <a:off x="566928" y="6345936"/>
            <a:ext cx="64008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AgniDrishti  ·  PS 26162  ·  AsyncMavericks_SIH0162</a:t>
            </a:r>
            <a:endParaRPr lang="en-US" sz="950" dirty="0"/>
          </a:p>
        </p:txBody>
      </p:sp>
      <p:sp>
        <p:nvSpPr>
          <p:cNvPr id="52" name="Text 49"/>
          <p:cNvSpPr txBox="1"/>
          <p:nvPr/>
        </p:nvSpPr>
        <p:spPr>
          <a:xfrm>
            <a:off x="11076127" y="6345936"/>
            <a:ext cx="54864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566928"/>
          </a:xfrm>
          <a:prstGeom prst="rect">
            <a:avLst/>
          </a:prstGeom>
          <a:noFill/>
          <a:ln/>
        </p:spPr>
        <p:txBody>
          <a:bodyPr wrap="square" lIns="0" tIns="0" rIns="0" bIns="0" rtlCol="0" anchor="ctr"/>
          <a:lstStyle/>
          <a:p>
            <a:pPr indent="0" marL="0">
              <a:buNone/>
            </a:pPr>
            <a:r>
              <a:rPr lang="en-US" sz="3400" b="1" dirty="0">
                <a:solidFill>
                  <a:srgbClr val="F1F5F9"/>
                </a:solidFill>
                <a:latin typeface="Arial" pitchFamily="34" charset="0"/>
                <a:ea typeface="Arial" pitchFamily="34" charset="-122"/>
                <a:cs typeface="Arial" pitchFamily="34" charset="-120"/>
              </a:rPr>
              <a:t>It runs. This is live data.</a:t>
            </a:r>
            <a:endParaRPr lang="en-US" sz="3400" dirty="0"/>
          </a:p>
        </p:txBody>
      </p:sp>
      <p:sp>
        <p:nvSpPr>
          <p:cNvPr id="3" name="Text 1"/>
          <p:cNvSpPr txBox="1"/>
          <p:nvPr/>
        </p:nvSpPr>
        <p:spPr>
          <a:xfrm>
            <a:off x="566928" y="1024128"/>
            <a:ext cx="11057839" cy="310896"/>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90 days of NASA FIRMS over Gujarat — ingested, clustered, enriched and classified.</a:t>
            </a:r>
            <a:endParaRPr lang="en-US" sz="1500" dirty="0"/>
          </a:p>
        </p:txBody>
      </p:sp>
      <p:sp>
        <p:nvSpPr>
          <p:cNvPr id="4" name="Shape 2"/>
          <p:cNvSpPr/>
          <p:nvPr/>
        </p:nvSpPr>
        <p:spPr>
          <a:xfrm>
            <a:off x="566928" y="1664208"/>
            <a:ext cx="2599868" cy="1060704"/>
          </a:xfrm>
          <a:prstGeom prst="roundRect">
            <a:avLst>
              <a:gd name="adj" fmla="val 6897"/>
            </a:avLst>
          </a:prstGeom>
          <a:solidFill>
            <a:srgbClr val="16202F"/>
          </a:solidFill>
          <a:ln w="12700">
            <a:solidFill>
              <a:srgbClr val="2A3646"/>
            </a:solidFill>
            <a:prstDash val="solid"/>
          </a:ln>
        </p:spPr>
      </p:sp>
      <p:sp>
        <p:nvSpPr>
          <p:cNvPr id="5" name="Text 3"/>
          <p:cNvSpPr txBox="1"/>
          <p:nvPr/>
        </p:nvSpPr>
        <p:spPr>
          <a:xfrm>
            <a:off x="768096" y="1792224"/>
            <a:ext cx="2197532" cy="530352"/>
          </a:xfrm>
          <a:prstGeom prst="rect">
            <a:avLst/>
          </a:prstGeom>
          <a:noFill/>
          <a:ln/>
        </p:spPr>
        <p:txBody>
          <a:bodyPr wrap="square" lIns="0" tIns="0" rIns="0" bIns="0" rtlCol="0" anchor="ctr"/>
          <a:lstStyle/>
          <a:p>
            <a:pPr indent="0" marL="0">
              <a:buNone/>
            </a:pPr>
            <a:r>
              <a:rPr lang="en-US" sz="2900" b="1" dirty="0">
                <a:solidFill>
                  <a:srgbClr val="F1F5F9"/>
                </a:solidFill>
                <a:latin typeface="Arial" pitchFamily="34" charset="0"/>
                <a:ea typeface="Arial" pitchFamily="34" charset="-122"/>
                <a:cs typeface="Arial" pitchFamily="34" charset="-120"/>
              </a:rPr>
              <a:t>1,522</a:t>
            </a:r>
            <a:endParaRPr lang="en-US" sz="2900" dirty="0"/>
          </a:p>
        </p:txBody>
      </p:sp>
      <p:sp>
        <p:nvSpPr>
          <p:cNvPr id="6" name="Text 4"/>
          <p:cNvSpPr txBox="1"/>
          <p:nvPr/>
        </p:nvSpPr>
        <p:spPr>
          <a:xfrm>
            <a:off x="768096" y="2331720"/>
            <a:ext cx="2197532"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detections</a:t>
            </a:r>
            <a:endParaRPr lang="en-US" sz="1150" dirty="0"/>
          </a:p>
        </p:txBody>
      </p:sp>
      <p:sp>
        <p:nvSpPr>
          <p:cNvPr id="7" name="Shape 5"/>
          <p:cNvSpPr/>
          <p:nvPr/>
        </p:nvSpPr>
        <p:spPr>
          <a:xfrm>
            <a:off x="3386252" y="1664208"/>
            <a:ext cx="2599868" cy="1060704"/>
          </a:xfrm>
          <a:prstGeom prst="roundRect">
            <a:avLst>
              <a:gd name="adj" fmla="val 6897"/>
            </a:avLst>
          </a:prstGeom>
          <a:solidFill>
            <a:srgbClr val="16202F"/>
          </a:solidFill>
          <a:ln w="12700">
            <a:solidFill>
              <a:srgbClr val="2A3646"/>
            </a:solidFill>
            <a:prstDash val="solid"/>
          </a:ln>
        </p:spPr>
      </p:sp>
      <p:sp>
        <p:nvSpPr>
          <p:cNvPr id="8" name="Text 6"/>
          <p:cNvSpPr txBox="1"/>
          <p:nvPr/>
        </p:nvSpPr>
        <p:spPr>
          <a:xfrm>
            <a:off x="3587420" y="1792224"/>
            <a:ext cx="2197532" cy="530352"/>
          </a:xfrm>
          <a:prstGeom prst="rect">
            <a:avLst/>
          </a:prstGeom>
          <a:noFill/>
          <a:ln/>
        </p:spPr>
        <p:txBody>
          <a:bodyPr wrap="square" lIns="0" tIns="0" rIns="0" bIns="0" rtlCol="0" anchor="ctr"/>
          <a:lstStyle/>
          <a:p>
            <a:pPr indent="0" marL="0">
              <a:buNone/>
            </a:pPr>
            <a:r>
              <a:rPr lang="en-US" sz="2900" b="1" dirty="0">
                <a:solidFill>
                  <a:srgbClr val="F1F5F9"/>
                </a:solidFill>
                <a:latin typeface="Arial" pitchFamily="34" charset="0"/>
                <a:ea typeface="Arial" pitchFamily="34" charset="-122"/>
                <a:cs typeface="Arial" pitchFamily="34" charset="-120"/>
              </a:rPr>
              <a:t>556</a:t>
            </a:r>
            <a:endParaRPr lang="en-US" sz="2900" dirty="0"/>
          </a:p>
        </p:txBody>
      </p:sp>
      <p:sp>
        <p:nvSpPr>
          <p:cNvPr id="9" name="Text 7"/>
          <p:cNvSpPr txBox="1"/>
          <p:nvPr/>
        </p:nvSpPr>
        <p:spPr>
          <a:xfrm>
            <a:off x="3587420" y="2331720"/>
            <a:ext cx="2197532"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sites</a:t>
            </a:r>
            <a:endParaRPr lang="en-US" sz="1150" dirty="0"/>
          </a:p>
        </p:txBody>
      </p:sp>
      <p:sp>
        <p:nvSpPr>
          <p:cNvPr id="10" name="Shape 8"/>
          <p:cNvSpPr/>
          <p:nvPr/>
        </p:nvSpPr>
        <p:spPr>
          <a:xfrm>
            <a:off x="6205576" y="1664208"/>
            <a:ext cx="2599868" cy="1060704"/>
          </a:xfrm>
          <a:prstGeom prst="roundRect">
            <a:avLst>
              <a:gd name="adj" fmla="val 6897"/>
            </a:avLst>
          </a:prstGeom>
          <a:solidFill>
            <a:srgbClr val="16202F"/>
          </a:solidFill>
          <a:ln w="12700">
            <a:solidFill>
              <a:srgbClr val="2A3646"/>
            </a:solidFill>
            <a:prstDash val="solid"/>
          </a:ln>
        </p:spPr>
      </p:sp>
      <p:sp>
        <p:nvSpPr>
          <p:cNvPr id="11" name="Text 9"/>
          <p:cNvSpPr txBox="1"/>
          <p:nvPr/>
        </p:nvSpPr>
        <p:spPr>
          <a:xfrm>
            <a:off x="6406744" y="1792224"/>
            <a:ext cx="2197532" cy="530352"/>
          </a:xfrm>
          <a:prstGeom prst="rect">
            <a:avLst/>
          </a:prstGeom>
          <a:noFill/>
          <a:ln/>
        </p:spPr>
        <p:txBody>
          <a:bodyPr wrap="square" lIns="0" tIns="0" rIns="0" bIns="0" rtlCol="0" anchor="ctr"/>
          <a:lstStyle/>
          <a:p>
            <a:pPr indent="0" marL="0">
              <a:buNone/>
            </a:pPr>
            <a:r>
              <a:rPr lang="en-US" sz="2900" b="1" dirty="0">
                <a:solidFill>
                  <a:srgbClr val="F1F5F9"/>
                </a:solidFill>
                <a:latin typeface="Arial" pitchFamily="34" charset="0"/>
                <a:ea typeface="Arial" pitchFamily="34" charset="-122"/>
                <a:cs typeface="Arial" pitchFamily="34" charset="-120"/>
              </a:rPr>
              <a:t>663</a:t>
            </a:r>
            <a:endParaRPr lang="en-US" sz="2900" dirty="0"/>
          </a:p>
        </p:txBody>
      </p:sp>
      <p:sp>
        <p:nvSpPr>
          <p:cNvPr id="12" name="Text 10"/>
          <p:cNvSpPr txBox="1"/>
          <p:nvPr/>
        </p:nvSpPr>
        <p:spPr>
          <a:xfrm>
            <a:off x="6406744" y="2331720"/>
            <a:ext cx="2197532"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episodes</a:t>
            </a:r>
            <a:endParaRPr lang="en-US" sz="1150" dirty="0"/>
          </a:p>
        </p:txBody>
      </p:sp>
      <p:sp>
        <p:nvSpPr>
          <p:cNvPr id="13" name="Shape 11"/>
          <p:cNvSpPr/>
          <p:nvPr/>
        </p:nvSpPr>
        <p:spPr>
          <a:xfrm>
            <a:off x="9024899" y="1664208"/>
            <a:ext cx="2599868" cy="1060704"/>
          </a:xfrm>
          <a:prstGeom prst="roundRect">
            <a:avLst>
              <a:gd name="adj" fmla="val 6897"/>
            </a:avLst>
          </a:prstGeom>
          <a:solidFill>
            <a:srgbClr val="16202F"/>
          </a:solidFill>
          <a:ln w="12700">
            <a:solidFill>
              <a:srgbClr val="2A3646"/>
            </a:solidFill>
            <a:prstDash val="solid"/>
          </a:ln>
        </p:spPr>
      </p:sp>
      <p:sp>
        <p:nvSpPr>
          <p:cNvPr id="14" name="Text 12"/>
          <p:cNvSpPr txBox="1"/>
          <p:nvPr/>
        </p:nvSpPr>
        <p:spPr>
          <a:xfrm>
            <a:off x="9226067" y="1792224"/>
            <a:ext cx="2197532" cy="530352"/>
          </a:xfrm>
          <a:prstGeom prst="rect">
            <a:avLst/>
          </a:prstGeom>
          <a:noFill/>
          <a:ln/>
        </p:spPr>
        <p:txBody>
          <a:bodyPr wrap="square" lIns="0" tIns="0" rIns="0" bIns="0" rtlCol="0" anchor="ctr"/>
          <a:lstStyle/>
          <a:p>
            <a:pPr indent="0" marL="0">
              <a:buNone/>
            </a:pPr>
            <a:r>
              <a:rPr lang="en-US" sz="2900" b="1" dirty="0">
                <a:solidFill>
                  <a:srgbClr val="F1F5F9"/>
                </a:solidFill>
                <a:latin typeface="Arial" pitchFamily="34" charset="0"/>
                <a:ea typeface="Arial" pitchFamily="34" charset="-122"/>
                <a:cs typeface="Arial" pitchFamily="34" charset="-120"/>
              </a:rPr>
              <a:t>90</a:t>
            </a:r>
            <a:endParaRPr lang="en-US" sz="2900" dirty="0"/>
          </a:p>
        </p:txBody>
      </p:sp>
      <p:sp>
        <p:nvSpPr>
          <p:cNvPr id="15" name="Text 13"/>
          <p:cNvSpPr txBox="1"/>
          <p:nvPr/>
        </p:nvSpPr>
        <p:spPr>
          <a:xfrm>
            <a:off x="9226067" y="2331720"/>
            <a:ext cx="2197532"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day window</a:t>
            </a:r>
            <a:endParaRPr lang="en-US" sz="1150" dirty="0"/>
          </a:p>
        </p:txBody>
      </p:sp>
      <p:sp>
        <p:nvSpPr>
          <p:cNvPr id="16" name="Shape 14"/>
          <p:cNvSpPr/>
          <p:nvPr/>
        </p:nvSpPr>
        <p:spPr>
          <a:xfrm>
            <a:off x="566928" y="2889504"/>
            <a:ext cx="11057839" cy="1426464"/>
          </a:xfrm>
          <a:prstGeom prst="roundRect">
            <a:avLst>
              <a:gd name="adj" fmla="val 5128"/>
            </a:avLst>
          </a:prstGeom>
          <a:solidFill>
            <a:srgbClr val="1C2739"/>
          </a:solidFill>
          <a:ln w="15875">
            <a:solidFill>
              <a:srgbClr val="F97316"/>
            </a:solidFill>
            <a:prstDash val="solid"/>
          </a:ln>
        </p:spPr>
      </p:sp>
      <p:sp>
        <p:nvSpPr>
          <p:cNvPr id="17" name="Text 15"/>
          <p:cNvSpPr txBox="1"/>
          <p:nvPr/>
        </p:nvSpPr>
        <p:spPr>
          <a:xfrm>
            <a:off x="914400" y="3072384"/>
            <a:ext cx="10362895" cy="420624"/>
          </a:xfrm>
          <a:prstGeom prst="rect">
            <a:avLst/>
          </a:prstGeom>
          <a:noFill/>
          <a:ln/>
        </p:spPr>
        <p:txBody>
          <a:bodyPr wrap="square" lIns="0" tIns="0" rIns="0" bIns="0" rtlCol="0" anchor="ctr"/>
          <a:lstStyle/>
          <a:p>
            <a:pPr indent="0" marL="0">
              <a:buNone/>
            </a:pPr>
            <a:r>
              <a:rPr lang="en-US" sz="2500" b="1" dirty="0">
                <a:solidFill>
                  <a:srgbClr val="F1F5F9"/>
                </a:solidFill>
                <a:latin typeface="Arial" pitchFamily="34" charset="0"/>
                <a:ea typeface="Arial" pitchFamily="34" charset="-122"/>
                <a:cs typeface="Arial" pitchFamily="34" charset="-120"/>
              </a:rPr>
              <a:t>556 </a:t>
            </a:r>
            <a:pPr indent="0" marL="0">
              <a:buNone/>
            </a:pPr>
            <a:r>
              <a:rPr lang="en-US" sz="1500" dirty="0">
                <a:solidFill>
                  <a:srgbClr val="94A3B8"/>
                </a:solidFill>
                <a:latin typeface="Calibri" pitchFamily="34" charset="0"/>
                <a:ea typeface="Calibri" pitchFamily="34" charset="-122"/>
                <a:cs typeface="Calibri" pitchFamily="34" charset="-120"/>
              </a:rPr>
              <a:t>sites   →   </a:t>
            </a:r>
            <a:pPr indent="0" marL="0">
              <a:buNone/>
            </a:pPr>
            <a:r>
              <a:rPr lang="en-US" sz="2500" b="1" dirty="0">
                <a:solidFill>
                  <a:srgbClr val="16A34A"/>
                </a:solidFill>
                <a:latin typeface="Arial" pitchFamily="34" charset="0"/>
                <a:ea typeface="Arial" pitchFamily="34" charset="-122"/>
                <a:cs typeface="Arial" pitchFamily="34" charset="-120"/>
              </a:rPr>
              <a:t>429 </a:t>
            </a:r>
            <a:pPr indent="0" marL="0">
              <a:buNone/>
            </a:pPr>
            <a:r>
              <a:rPr lang="en-US" sz="1500" dirty="0">
                <a:solidFill>
                  <a:srgbClr val="94A3B8"/>
                </a:solidFill>
                <a:latin typeface="Calibri" pitchFamily="34" charset="0"/>
                <a:ea typeface="Calibri" pitchFamily="34" charset="-122"/>
                <a:cs typeface="Calibri" pitchFamily="34" charset="-120"/>
              </a:rPr>
              <a:t>vegetation   ·   </a:t>
            </a:r>
            <a:pPr indent="0" marL="0">
              <a:buNone/>
            </a:pPr>
            <a:r>
              <a:rPr lang="en-US" sz="2500" b="1" dirty="0">
                <a:solidFill>
                  <a:srgbClr val="9CA3AF"/>
                </a:solidFill>
                <a:latin typeface="Arial" pitchFamily="34" charset="0"/>
                <a:ea typeface="Arial" pitchFamily="34" charset="-122"/>
                <a:cs typeface="Arial" pitchFamily="34" charset="-120"/>
              </a:rPr>
              <a:t>113 </a:t>
            </a:r>
            <a:pPr indent="0" marL="0">
              <a:buNone/>
            </a:pPr>
            <a:r>
              <a:rPr lang="en-US" sz="1500" dirty="0">
                <a:solidFill>
                  <a:srgbClr val="94A3B8"/>
                </a:solidFill>
                <a:latin typeface="Calibri" pitchFamily="34" charset="0"/>
                <a:ea typeface="Calibri" pitchFamily="34" charset="-122"/>
                <a:cs typeface="Calibri" pitchFamily="34" charset="-120"/>
              </a:rPr>
              <a:t>uncertain   ·   </a:t>
            </a:r>
            <a:pPr indent="0" marL="0">
              <a:buNone/>
            </a:pPr>
            <a:r>
              <a:rPr lang="en-US" sz="2500" b="1" dirty="0">
                <a:solidFill>
                  <a:srgbClr val="DC2626"/>
                </a:solidFill>
                <a:latin typeface="Arial" pitchFamily="34" charset="0"/>
                <a:ea typeface="Arial" pitchFamily="34" charset="-122"/>
                <a:cs typeface="Arial" pitchFamily="34" charset="-120"/>
              </a:rPr>
              <a:t>14 </a:t>
            </a:r>
            <a:pPr indent="0" marL="0">
              <a:buNone/>
            </a:pPr>
            <a:r>
              <a:rPr lang="en-US" sz="1500" dirty="0">
                <a:solidFill>
                  <a:srgbClr val="94A3B8"/>
                </a:solidFill>
                <a:latin typeface="Calibri" pitchFamily="34" charset="0"/>
                <a:ea typeface="Calibri" pitchFamily="34" charset="-122"/>
                <a:cs typeface="Calibri" pitchFamily="34" charset="-120"/>
              </a:rPr>
              <a:t>industrial</a:t>
            </a:r>
            <a:endParaRPr lang="en-US" sz="2500" dirty="0"/>
          </a:p>
        </p:txBody>
      </p:sp>
      <p:sp>
        <p:nvSpPr>
          <p:cNvPr id="18" name="Shape 16"/>
          <p:cNvSpPr/>
          <p:nvPr/>
        </p:nvSpPr>
        <p:spPr>
          <a:xfrm>
            <a:off x="914400" y="3584448"/>
            <a:ext cx="7995831" cy="237744"/>
          </a:xfrm>
          <a:prstGeom prst="rect">
            <a:avLst/>
          </a:prstGeom>
          <a:solidFill>
            <a:srgbClr val="16A34A"/>
          </a:solidFill>
          <a:ln/>
        </p:spPr>
      </p:sp>
      <p:sp>
        <p:nvSpPr>
          <p:cNvPr id="19" name="Shape 17"/>
          <p:cNvSpPr/>
          <p:nvPr/>
        </p:nvSpPr>
        <p:spPr>
          <a:xfrm>
            <a:off x="8910231" y="3584448"/>
            <a:ext cx="2106128" cy="237744"/>
          </a:xfrm>
          <a:prstGeom prst="rect">
            <a:avLst/>
          </a:prstGeom>
          <a:solidFill>
            <a:srgbClr val="9CA3AF"/>
          </a:solidFill>
          <a:ln/>
        </p:spPr>
      </p:sp>
      <p:sp>
        <p:nvSpPr>
          <p:cNvPr id="20" name="Shape 18"/>
          <p:cNvSpPr/>
          <p:nvPr/>
        </p:nvSpPr>
        <p:spPr>
          <a:xfrm>
            <a:off x="11016359" y="3584448"/>
            <a:ext cx="260936" cy="237744"/>
          </a:xfrm>
          <a:prstGeom prst="rect">
            <a:avLst/>
          </a:prstGeom>
          <a:solidFill>
            <a:srgbClr val="DC2626"/>
          </a:solidFill>
          <a:ln/>
        </p:spPr>
      </p:sp>
      <p:sp>
        <p:nvSpPr>
          <p:cNvPr id="21" name="Text 19"/>
          <p:cNvSpPr txBox="1"/>
          <p:nvPr/>
        </p:nvSpPr>
        <p:spPr>
          <a:xfrm>
            <a:off x="914400" y="3931920"/>
            <a:ext cx="10362895" cy="310896"/>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That reduction is the product. An operator reads 14 rows, not 556.</a:t>
            </a:r>
            <a:endParaRPr lang="en-US" sz="1300" dirty="0"/>
          </a:p>
        </p:txBody>
      </p:sp>
      <p:sp>
        <p:nvSpPr>
          <p:cNvPr id="22" name="Shape 20"/>
          <p:cNvSpPr/>
          <p:nvPr/>
        </p:nvSpPr>
        <p:spPr>
          <a:xfrm>
            <a:off x="566928" y="4517136"/>
            <a:ext cx="11057839" cy="1481328"/>
          </a:xfrm>
          <a:prstGeom prst="roundRect">
            <a:avLst>
              <a:gd name="adj" fmla="val 4938"/>
            </a:avLst>
          </a:prstGeom>
          <a:solidFill>
            <a:srgbClr val="16202F"/>
          </a:solidFill>
          <a:ln w="12700">
            <a:solidFill>
              <a:srgbClr val="2A3646"/>
            </a:solidFill>
            <a:prstDash val="solid"/>
          </a:ln>
        </p:spPr>
      </p:sp>
      <p:sp>
        <p:nvSpPr>
          <p:cNvPr id="23" name="Shape 21"/>
          <p:cNvSpPr/>
          <p:nvPr/>
        </p:nvSpPr>
        <p:spPr>
          <a:xfrm>
            <a:off x="836676" y="4750308"/>
            <a:ext cx="192024" cy="192024"/>
          </a:xfrm>
          <a:prstGeom prst="ellipse">
            <a:avLst/>
          </a:prstGeom>
          <a:solidFill>
            <a:srgbClr val="EA580C"/>
          </a:solidFill>
          <a:ln/>
        </p:spPr>
      </p:sp>
      <p:sp>
        <p:nvSpPr>
          <p:cNvPr id="24" name="Text 22"/>
          <p:cNvSpPr txBox="1"/>
          <p:nvPr/>
        </p:nvSpPr>
        <p:spPr>
          <a:xfrm>
            <a:off x="1133856" y="4700016"/>
            <a:ext cx="4937760" cy="292608"/>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Site #2  ·  21.1066° N, 72.6469° E  ·  Hazira</a:t>
            </a:r>
            <a:endParaRPr lang="en-US" sz="1300" dirty="0"/>
          </a:p>
        </p:txBody>
      </p:sp>
      <p:sp>
        <p:nvSpPr>
          <p:cNvPr id="25" name="Text 23"/>
          <p:cNvSpPr txBox="1"/>
          <p:nvPr/>
        </p:nvSpPr>
        <p:spPr>
          <a:xfrm>
            <a:off x="7406640" y="4718304"/>
            <a:ext cx="3931920" cy="274320"/>
          </a:xfrm>
          <a:prstGeom prst="rect">
            <a:avLst/>
          </a:prstGeom>
          <a:noFill/>
          <a:ln/>
        </p:spPr>
        <p:txBody>
          <a:bodyPr wrap="square" lIns="0" tIns="0" rIns="0" bIns="0" rtlCol="0" anchor="ctr"/>
          <a:lstStyle/>
          <a:p>
            <a:pPr algn="r" indent="0" marL="0">
              <a:buNone/>
            </a:pPr>
            <a:r>
              <a:rPr lang="en-US" sz="1000" b="1" spc="60" kern="0" dirty="0">
                <a:solidFill>
                  <a:srgbClr val="EA580C"/>
                </a:solidFill>
                <a:latin typeface="Arial" pitchFamily="34" charset="0"/>
                <a:ea typeface="Arial" pitchFamily="34" charset="-122"/>
                <a:cs typeface="Arial" pitchFamily="34" charset="-120"/>
              </a:rPr>
              <a:t>PERSISTENT THERMAL SOURCE  ·  high confidence</a:t>
            </a:r>
            <a:endParaRPr lang="en-US" sz="1000" dirty="0"/>
          </a:p>
        </p:txBody>
      </p:sp>
      <p:sp>
        <p:nvSpPr>
          <p:cNvPr id="26" name="Text 24"/>
          <p:cNvSpPr txBox="1"/>
          <p:nvPr/>
        </p:nvSpPr>
        <p:spPr>
          <a:xfrm>
            <a:off x="932688" y="5102352"/>
            <a:ext cx="5120640" cy="73152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94A3B8"/>
                </a:solidFill>
                <a:latin typeface="Calibri" pitchFamily="34" charset="0"/>
                <a:ea typeface="Calibri" pitchFamily="34" charset="-122"/>
                <a:cs typeface="Calibri" pitchFamily="34" charset="-120"/>
              </a:rPr>
              <a:t>recurs on 48 of 90 days (53% of the observed period)</a:t>
            </a:r>
            <a:endParaRPr lang="en-US" sz="1150" dirty="0"/>
          </a:p>
          <a:p>
            <a:pPr marL="342900" indent="-342900">
              <a:spcAft>
                <a:spcPts val="300"/>
              </a:spcAft>
              <a:buSzPct val="100000"/>
              <a:buChar char="•"/>
            </a:pPr>
            <a:r>
              <a:rPr lang="en-US" sz="1150" dirty="0">
                <a:solidFill>
                  <a:srgbClr val="94A3B8"/>
                </a:solidFill>
                <a:latin typeface="Calibri" pitchFamily="34" charset="0"/>
                <a:ea typeface="Calibri" pitchFamily="34" charset="-122"/>
                <a:cs typeface="Calibri" pitchFamily="34" charset="-120"/>
              </a:rPr>
              <a:t>longest continuous episode 73 days — still ongoing</a:t>
            </a:r>
            <a:endParaRPr lang="en-US" sz="1150" dirty="0"/>
          </a:p>
        </p:txBody>
      </p:sp>
      <p:sp>
        <p:nvSpPr>
          <p:cNvPr id="27" name="Text 25"/>
          <p:cNvSpPr txBox="1"/>
          <p:nvPr/>
        </p:nvSpPr>
        <p:spPr>
          <a:xfrm>
            <a:off x="6035040" y="5102352"/>
            <a:ext cx="5394960" cy="73152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94A3B8"/>
                </a:solidFill>
                <a:latin typeface="Calibri" pitchFamily="34" charset="0"/>
                <a:ea typeface="Calibri" pitchFamily="34" charset="-122"/>
                <a:cs typeface="Calibri" pitchFamily="34" charset="-120"/>
              </a:rPr>
              <a:t>489 m from nearest mapped industrial feature</a:t>
            </a:r>
            <a:endParaRPr lang="en-US" sz="1150" dirty="0"/>
          </a:p>
          <a:p>
            <a:pPr marL="342900" indent="-342900">
              <a:spcAft>
                <a:spcPts val="300"/>
              </a:spcAft>
              <a:buSzPct val="100000"/>
              <a:buChar char="•"/>
            </a:pPr>
            <a:r>
              <a:rPr lang="en-US" sz="1150" dirty="0">
                <a:solidFill>
                  <a:srgbClr val="94A3B8"/>
                </a:solidFill>
                <a:latin typeface="Calibri" pitchFamily="34" charset="0"/>
                <a:ea typeface="Calibri" pitchFamily="34" charset="-122"/>
                <a:cs typeface="Calibri" pitchFamily="34" charset="-120"/>
              </a:rPr>
              <a:t>nearest feature: ArcelorMittal Nippon Steel India (OpenStreetMap)</a:t>
            </a:r>
            <a:endParaRPr lang="en-US" sz="1150" dirty="0"/>
          </a:p>
        </p:txBody>
      </p:sp>
      <p:sp>
        <p:nvSpPr>
          <p:cNvPr id="29" name="Text 26"/>
          <p:cNvSpPr txBox="1"/>
          <p:nvPr/>
        </p:nvSpPr>
        <p:spPr>
          <a:xfrm>
            <a:off x="566928" y="6345936"/>
            <a:ext cx="64008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AgniDrishti  ·  PS 26162  ·  AsyncMavericks_SIH0162</a:t>
            </a:r>
            <a:endParaRPr lang="en-US" sz="950" dirty="0"/>
          </a:p>
        </p:txBody>
      </p:sp>
      <p:sp>
        <p:nvSpPr>
          <p:cNvPr id="30" name="Text 27"/>
          <p:cNvSpPr txBox="1"/>
          <p:nvPr/>
        </p:nvSpPr>
        <p:spPr>
          <a:xfrm>
            <a:off x="11076127" y="6345936"/>
            <a:ext cx="54864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566928"/>
          </a:xfrm>
          <a:prstGeom prst="rect">
            <a:avLst/>
          </a:prstGeom>
          <a:noFill/>
          <a:ln/>
        </p:spPr>
        <p:txBody>
          <a:bodyPr wrap="square" lIns="0" tIns="0" rIns="0" bIns="0" rtlCol="0" anchor="ctr"/>
          <a:lstStyle/>
          <a:p>
            <a:pPr indent="0" marL="0">
              <a:buNone/>
            </a:pPr>
            <a:r>
              <a:rPr lang="en-US" sz="3400" b="1" dirty="0">
                <a:solidFill>
                  <a:srgbClr val="F1F5F9"/>
                </a:solidFill>
                <a:latin typeface="Arial" pitchFamily="34" charset="0"/>
                <a:ea typeface="Arial" pitchFamily="34" charset="-122"/>
                <a:cs typeface="Arial" pitchFamily="34" charset="-120"/>
              </a:rPr>
              <a:t>What is real today, and what comes next</a:t>
            </a:r>
            <a:endParaRPr lang="en-US" sz="3400" dirty="0"/>
          </a:p>
        </p:txBody>
      </p:sp>
      <p:sp>
        <p:nvSpPr>
          <p:cNvPr id="3" name="Text 1"/>
          <p:cNvSpPr txBox="1"/>
          <p:nvPr/>
        </p:nvSpPr>
        <p:spPr>
          <a:xfrm>
            <a:off x="566928" y="1024128"/>
            <a:ext cx="11057839" cy="310896"/>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Stated plainly — a system whose limits are understood is more trustworthy than one whose limits are hidden.</a:t>
            </a:r>
            <a:endParaRPr lang="en-US" sz="1500" dirty="0"/>
          </a:p>
        </p:txBody>
      </p:sp>
      <p:sp>
        <p:nvSpPr>
          <p:cNvPr id="4" name="Shape 2"/>
          <p:cNvSpPr/>
          <p:nvPr/>
        </p:nvSpPr>
        <p:spPr>
          <a:xfrm>
            <a:off x="566928" y="1792224"/>
            <a:ext cx="5504688" cy="2231136"/>
          </a:xfrm>
          <a:prstGeom prst="roundRect">
            <a:avLst>
              <a:gd name="adj" fmla="val 3279"/>
            </a:avLst>
          </a:prstGeom>
          <a:solidFill>
            <a:srgbClr val="1C2739"/>
          </a:solidFill>
          <a:ln w="15875">
            <a:solidFill>
              <a:srgbClr val="F97316"/>
            </a:solidFill>
            <a:prstDash val="solid"/>
          </a:ln>
        </p:spPr>
      </p:sp>
      <p:sp>
        <p:nvSpPr>
          <p:cNvPr id="5" name="Text 3"/>
          <p:cNvSpPr txBox="1"/>
          <p:nvPr/>
        </p:nvSpPr>
        <p:spPr>
          <a:xfrm>
            <a:off x="896112" y="2011680"/>
            <a:ext cx="4846320" cy="658368"/>
          </a:xfrm>
          <a:prstGeom prst="rect">
            <a:avLst/>
          </a:prstGeom>
          <a:noFill/>
          <a:ln/>
        </p:spPr>
        <p:txBody>
          <a:bodyPr wrap="square" lIns="0" tIns="0" rIns="0" bIns="0" rtlCol="0" anchor="ctr"/>
          <a:lstStyle/>
          <a:p>
            <a:pPr indent="0" marL="0">
              <a:lnSpc>
                <a:spcPts val="2300"/>
              </a:lnSpc>
              <a:buNone/>
            </a:pPr>
            <a:r>
              <a:rPr lang="en-US" sz="1700" b="1" dirty="0">
                <a:solidFill>
                  <a:srgbClr val="F1F5F9"/>
                </a:solidFill>
                <a:latin typeface="Arial" pitchFamily="34" charset="0"/>
                <a:ea typeface="Arial" pitchFamily="34" charset="-122"/>
                <a:cs typeface="Arial" pitchFamily="34" charset="-120"/>
              </a:rPr>
              <a:t>v1 is a documented rule set — not a trained model.</a:t>
            </a:r>
            <a:endParaRPr lang="en-US" sz="1700" dirty="0"/>
          </a:p>
        </p:txBody>
      </p:sp>
      <p:sp>
        <p:nvSpPr>
          <p:cNvPr id="6" name="Text 4"/>
          <p:cNvSpPr txBox="1"/>
          <p:nvPr/>
        </p:nvSpPr>
        <p:spPr>
          <a:xfrm>
            <a:off x="896112" y="2724912"/>
            <a:ext cx="4846320" cy="1097280"/>
          </a:xfrm>
          <a:prstGeom prst="rect">
            <a:avLst/>
          </a:prstGeom>
          <a:noFill/>
          <a:ln/>
        </p:spPr>
        <p:txBody>
          <a:bodyPr wrap="square" lIns="0" tIns="0" rIns="0" bIns="0" rtlCol="0" anchor="ctr"/>
          <a:lstStyle/>
          <a:p>
            <a:pPr indent="0" marL="0">
              <a:lnSpc>
                <a:spcPts val="1700"/>
              </a:lnSpc>
              <a:buNone/>
            </a:pPr>
            <a:r>
              <a:rPr lang="en-US" sz="1250" dirty="0">
                <a:solidFill>
                  <a:srgbClr val="94A3B8"/>
                </a:solidFill>
                <a:latin typeface="Calibri" pitchFamily="34" charset="0"/>
                <a:ea typeface="Calibri" pitchFamily="34" charset="-122"/>
                <a:cs typeface="Calibri" pitchFamily="34" charset="-120"/>
              </a:rPr>
              <a:t>We claim no accuracy figure, because no labelled test set exists yet. The rules make our domain hypothesis explicit so it can be argued with — and they pre-label the annotation queue, so reviewers correct rather than label from scratch.</a:t>
            </a:r>
            <a:endParaRPr lang="en-US" sz="1250" dirty="0"/>
          </a:p>
        </p:txBody>
      </p:sp>
      <p:sp>
        <p:nvSpPr>
          <p:cNvPr id="7" name="Shape 5"/>
          <p:cNvSpPr/>
          <p:nvPr/>
        </p:nvSpPr>
        <p:spPr>
          <a:xfrm>
            <a:off x="6327648" y="1792224"/>
            <a:ext cx="5303520" cy="2231136"/>
          </a:xfrm>
          <a:prstGeom prst="roundRect">
            <a:avLst>
              <a:gd name="adj" fmla="val 3279"/>
            </a:avLst>
          </a:prstGeom>
          <a:solidFill>
            <a:srgbClr val="16202F"/>
          </a:solidFill>
          <a:ln w="12700">
            <a:solidFill>
              <a:srgbClr val="2A3646"/>
            </a:solidFill>
            <a:prstDash val="solid"/>
          </a:ln>
        </p:spPr>
      </p:sp>
      <p:sp>
        <p:nvSpPr>
          <p:cNvPr id="8" name="Text 6"/>
          <p:cNvSpPr txBox="1"/>
          <p:nvPr/>
        </p:nvSpPr>
        <p:spPr>
          <a:xfrm>
            <a:off x="6638544" y="2011680"/>
            <a:ext cx="4663440" cy="658368"/>
          </a:xfrm>
          <a:prstGeom prst="rect">
            <a:avLst/>
          </a:prstGeom>
          <a:noFill/>
          <a:ln/>
        </p:spPr>
        <p:txBody>
          <a:bodyPr wrap="square" lIns="0" tIns="0" rIns="0" bIns="0" rtlCol="0" anchor="ctr"/>
          <a:lstStyle/>
          <a:p>
            <a:pPr indent="0" marL="0">
              <a:lnSpc>
                <a:spcPts val="2300"/>
              </a:lnSpc>
              <a:buNone/>
            </a:pPr>
            <a:r>
              <a:rPr lang="en-US" sz="1700" b="1" dirty="0">
                <a:solidFill>
                  <a:srgbClr val="F1F5F9"/>
                </a:solidFill>
                <a:latin typeface="Arial" pitchFamily="34" charset="0"/>
                <a:ea typeface="Arial" pitchFamily="34" charset="-122"/>
                <a:cs typeface="Arial" pitchFamily="34" charset="-120"/>
              </a:rPr>
              <a:t>The model swaps in without touching the pipeline.</a:t>
            </a:r>
            <a:endParaRPr lang="en-US" sz="1700" dirty="0"/>
          </a:p>
        </p:txBody>
      </p:sp>
      <p:sp>
        <p:nvSpPr>
          <p:cNvPr id="9" name="Text 7"/>
          <p:cNvSpPr txBox="1"/>
          <p:nvPr/>
        </p:nvSpPr>
        <p:spPr>
          <a:xfrm>
            <a:off x="6638544" y="2743200"/>
            <a:ext cx="4663440" cy="566928"/>
          </a:xfrm>
          <a:prstGeom prst="rect">
            <a:avLst/>
          </a:prstGeom>
          <a:noFill/>
          <a:ln/>
        </p:spPr>
        <p:txBody>
          <a:bodyPr wrap="square" lIns="0" tIns="0" rIns="0" bIns="0" rtlCol="0" anchor="ctr"/>
          <a:lstStyle/>
          <a:p>
            <a:pPr indent="0" marL="0">
              <a:lnSpc>
                <a:spcPts val="1500"/>
              </a:lnSpc>
              <a:buNone/>
            </a:pPr>
            <a:r>
              <a:rPr lang="en-US" sz="1050" dirty="0">
                <a:solidFill>
                  <a:srgbClr val="F97316"/>
                </a:solidFill>
                <a:latin typeface="Courier New" pitchFamily="34" charset="0"/>
                <a:ea typeface="Courier New" pitchFamily="34" charset="-122"/>
                <a:cs typeface="Courier New" pitchFamily="34" charset="-120"/>
              </a:rPr>
              <a:t>class Classifier(Protocol):</a:t>
            </a:r>
            <a:endParaRPr lang="en-US" sz="1050" dirty="0"/>
          </a:p>
          <a:p>
            <a:pPr indent="0" marL="0">
              <a:lnSpc>
                <a:spcPts val="1500"/>
              </a:lnSpc>
              <a:buNone/>
            </a:pPr>
            <a:r>
              <a:rPr lang="en-US" sz="1050" dirty="0">
                <a:solidFill>
                  <a:srgbClr val="F97316"/>
                </a:solidFill>
                <a:latin typeface="Courier New" pitchFamily="34" charset="0"/>
                <a:ea typeface="Courier New" pitchFamily="34" charset="-122"/>
                <a:cs typeface="Courier New" pitchFamily="34" charset="-120"/>
              </a:rPr>
              <a:t>    def predict(self, features) -&gt; Classification: ...</a:t>
            </a:r>
            <a:endParaRPr lang="en-US" sz="1050" dirty="0"/>
          </a:p>
        </p:txBody>
      </p:sp>
      <p:sp>
        <p:nvSpPr>
          <p:cNvPr id="10" name="Text 8"/>
          <p:cNvSpPr txBox="1"/>
          <p:nvPr/>
        </p:nvSpPr>
        <p:spPr>
          <a:xfrm>
            <a:off x="6638544" y="3401568"/>
            <a:ext cx="4663440" cy="548640"/>
          </a:xfrm>
          <a:prstGeom prst="rect">
            <a:avLst/>
          </a:prstGeom>
          <a:noFill/>
          <a:ln/>
        </p:spPr>
        <p:txBody>
          <a:bodyPr wrap="square" lIns="0" tIns="0" rIns="0" bIns="0" rtlCol="0" anchor="ctr"/>
          <a:lstStyle/>
          <a:p>
            <a:pPr indent="0" marL="0">
              <a:lnSpc>
                <a:spcPts val="1600"/>
              </a:lnSpc>
              <a:buNone/>
            </a:pPr>
            <a:r>
              <a:rPr lang="en-US" sz="1200" dirty="0">
                <a:solidFill>
                  <a:srgbClr val="94A3B8"/>
                </a:solidFill>
                <a:latin typeface="Calibri" pitchFamily="34" charset="0"/>
                <a:ea typeface="Calibri" pitchFamily="34" charset="-122"/>
                <a:cs typeface="Calibri" pitchFamily="34" charset="-120"/>
              </a:rPr>
              <a:t>Rules v1 and Random Forest v2 sit behind one interface. The same feature vector feeds both, so data collected now stays valid when the model lands.</a:t>
            </a:r>
            <a:endParaRPr lang="en-US" sz="1200" dirty="0"/>
          </a:p>
        </p:txBody>
      </p:sp>
      <p:sp>
        <p:nvSpPr>
          <p:cNvPr id="11" name="Shape 9"/>
          <p:cNvSpPr/>
          <p:nvPr/>
        </p:nvSpPr>
        <p:spPr>
          <a:xfrm>
            <a:off x="566928" y="4370832"/>
            <a:ext cx="3566160" cy="1371600"/>
          </a:xfrm>
          <a:prstGeom prst="roundRect">
            <a:avLst>
              <a:gd name="adj" fmla="val 5333"/>
            </a:avLst>
          </a:prstGeom>
          <a:solidFill>
            <a:srgbClr val="16202F"/>
          </a:solidFill>
          <a:ln w="12700">
            <a:solidFill>
              <a:srgbClr val="2A3646"/>
            </a:solidFill>
            <a:prstDash val="solid"/>
          </a:ln>
        </p:spPr>
      </p:sp>
      <p:sp>
        <p:nvSpPr>
          <p:cNvPr id="12" name="Text 10"/>
          <p:cNvSpPr txBox="1"/>
          <p:nvPr/>
        </p:nvSpPr>
        <p:spPr>
          <a:xfrm>
            <a:off x="804672" y="4535424"/>
            <a:ext cx="1097280" cy="237744"/>
          </a:xfrm>
          <a:prstGeom prst="rect">
            <a:avLst/>
          </a:prstGeom>
          <a:noFill/>
          <a:ln/>
        </p:spPr>
        <p:txBody>
          <a:bodyPr wrap="square" lIns="0" tIns="0" rIns="0" bIns="0" rtlCol="0" anchor="ctr"/>
          <a:lstStyle/>
          <a:p>
            <a:pPr indent="0" marL="0">
              <a:buNone/>
            </a:pPr>
            <a:r>
              <a:rPr lang="en-US" sz="950" b="1" spc="120" kern="0" dirty="0">
                <a:solidFill>
                  <a:srgbClr val="F97316"/>
                </a:solidFill>
                <a:latin typeface="Arial" pitchFamily="34" charset="0"/>
                <a:ea typeface="Arial" pitchFamily="34" charset="-122"/>
                <a:cs typeface="Arial" pitchFamily="34" charset="-120"/>
              </a:rPr>
              <a:t>NEXT</a:t>
            </a:r>
            <a:endParaRPr lang="en-US" sz="950" dirty="0"/>
          </a:p>
        </p:txBody>
      </p:sp>
      <p:sp>
        <p:nvSpPr>
          <p:cNvPr id="13" name="Text 11"/>
          <p:cNvSpPr txBox="1"/>
          <p:nvPr/>
        </p:nvSpPr>
        <p:spPr>
          <a:xfrm>
            <a:off x="804672" y="4791456"/>
            <a:ext cx="3090672" cy="292608"/>
          </a:xfrm>
          <a:prstGeom prst="rect">
            <a:avLst/>
          </a:prstGeom>
          <a:noFill/>
          <a:ln/>
        </p:spPr>
        <p:txBody>
          <a:bodyPr wrap="square" lIns="0" tIns="0" rIns="0" bIns="0" rtlCol="0" anchor="ctr"/>
          <a:lstStyle/>
          <a:p>
            <a:pPr indent="0" marL="0">
              <a:buNone/>
            </a:pPr>
            <a:r>
              <a:rPr lang="en-US" sz="1400" b="1" dirty="0">
                <a:solidFill>
                  <a:srgbClr val="F1F5F9"/>
                </a:solidFill>
                <a:latin typeface="Arial" pitchFamily="34" charset="0"/>
                <a:ea typeface="Arial" pitchFamily="34" charset="-122"/>
                <a:cs typeface="Arial" pitchFamily="34" charset="-120"/>
              </a:rPr>
              <a:t>Labelled dataset</a:t>
            </a:r>
            <a:endParaRPr lang="en-US" sz="1400" dirty="0"/>
          </a:p>
        </p:txBody>
      </p:sp>
      <p:sp>
        <p:nvSpPr>
          <p:cNvPr id="14" name="Text 12"/>
          <p:cNvSpPr txBox="1"/>
          <p:nvPr/>
        </p:nvSpPr>
        <p:spPr>
          <a:xfrm>
            <a:off x="804672" y="5138928"/>
            <a:ext cx="3090672" cy="512064"/>
          </a:xfrm>
          <a:prstGeom prst="rect">
            <a:avLst/>
          </a:prstGeom>
          <a:noFill/>
          <a:ln/>
        </p:spPr>
        <p:txBody>
          <a:bodyPr wrap="square" lIns="0" tIns="0" rIns="0" bIns="0" rtlCol="0" anchor="ctr"/>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300–500 sites verified against</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Sentinel-2 imagery</a:t>
            </a:r>
            <a:endParaRPr lang="en-US" sz="1100" dirty="0"/>
          </a:p>
        </p:txBody>
      </p:sp>
      <p:sp>
        <p:nvSpPr>
          <p:cNvPr id="15" name="Shape 13"/>
          <p:cNvSpPr/>
          <p:nvPr/>
        </p:nvSpPr>
        <p:spPr>
          <a:xfrm>
            <a:off x="4416552" y="4370832"/>
            <a:ext cx="3566160" cy="1371600"/>
          </a:xfrm>
          <a:prstGeom prst="roundRect">
            <a:avLst>
              <a:gd name="adj" fmla="val 5333"/>
            </a:avLst>
          </a:prstGeom>
          <a:solidFill>
            <a:srgbClr val="16202F"/>
          </a:solidFill>
          <a:ln w="12700">
            <a:solidFill>
              <a:srgbClr val="2A3646"/>
            </a:solidFill>
            <a:prstDash val="solid"/>
          </a:ln>
        </p:spPr>
      </p:sp>
      <p:sp>
        <p:nvSpPr>
          <p:cNvPr id="16" name="Text 14"/>
          <p:cNvSpPr txBox="1"/>
          <p:nvPr/>
        </p:nvSpPr>
        <p:spPr>
          <a:xfrm>
            <a:off x="4654296" y="4535424"/>
            <a:ext cx="1097280" cy="237744"/>
          </a:xfrm>
          <a:prstGeom prst="rect">
            <a:avLst/>
          </a:prstGeom>
          <a:noFill/>
          <a:ln/>
        </p:spPr>
        <p:txBody>
          <a:bodyPr wrap="square" lIns="0" tIns="0" rIns="0" bIns="0" rtlCol="0" anchor="ctr"/>
          <a:lstStyle/>
          <a:p>
            <a:pPr indent="0" marL="0">
              <a:buNone/>
            </a:pPr>
            <a:r>
              <a:rPr lang="en-US" sz="950" b="1" spc="120" kern="0" dirty="0">
                <a:solidFill>
                  <a:srgbClr val="F97316"/>
                </a:solidFill>
                <a:latin typeface="Arial" pitchFamily="34" charset="0"/>
                <a:ea typeface="Arial" pitchFamily="34" charset="-122"/>
                <a:cs typeface="Arial" pitchFamily="34" charset="-120"/>
              </a:rPr>
              <a:t>THEN</a:t>
            </a:r>
            <a:endParaRPr lang="en-US" sz="950" dirty="0"/>
          </a:p>
        </p:txBody>
      </p:sp>
      <p:sp>
        <p:nvSpPr>
          <p:cNvPr id="17" name="Text 15"/>
          <p:cNvSpPr txBox="1"/>
          <p:nvPr/>
        </p:nvSpPr>
        <p:spPr>
          <a:xfrm>
            <a:off x="4654296" y="4791456"/>
            <a:ext cx="3090672" cy="292608"/>
          </a:xfrm>
          <a:prstGeom prst="rect">
            <a:avLst/>
          </a:prstGeom>
          <a:noFill/>
          <a:ln/>
        </p:spPr>
        <p:txBody>
          <a:bodyPr wrap="square" lIns="0" tIns="0" rIns="0" bIns="0" rtlCol="0" anchor="ctr"/>
          <a:lstStyle/>
          <a:p>
            <a:pPr indent="0" marL="0">
              <a:buNone/>
            </a:pPr>
            <a:r>
              <a:rPr lang="en-US" sz="1400" b="1" dirty="0">
                <a:solidFill>
                  <a:srgbClr val="F1F5F9"/>
                </a:solidFill>
                <a:latin typeface="Arial" pitchFamily="34" charset="0"/>
                <a:ea typeface="Arial" pitchFamily="34" charset="-122"/>
                <a:cs typeface="Arial" pitchFamily="34" charset="-120"/>
              </a:rPr>
              <a:t>Random Forest v2</a:t>
            </a:r>
            <a:endParaRPr lang="en-US" sz="1400" dirty="0"/>
          </a:p>
        </p:txBody>
      </p:sp>
      <p:sp>
        <p:nvSpPr>
          <p:cNvPr id="18" name="Text 16"/>
          <p:cNvSpPr txBox="1"/>
          <p:nvPr/>
        </p:nvSpPr>
        <p:spPr>
          <a:xfrm>
            <a:off x="4654296" y="5138928"/>
            <a:ext cx="3090672" cy="512064"/>
          </a:xfrm>
          <a:prstGeom prst="rect">
            <a:avLst/>
          </a:prstGeom>
          <a:noFill/>
          <a:ln/>
        </p:spPr>
        <p:txBody>
          <a:bodyPr wrap="square" lIns="0" tIns="0" rIns="0" bIns="0" rtlCol="0" anchor="ctr"/>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Trained, then evaluated on a</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held-out test split</a:t>
            </a:r>
            <a:endParaRPr lang="en-US" sz="1100" dirty="0"/>
          </a:p>
        </p:txBody>
      </p:sp>
      <p:sp>
        <p:nvSpPr>
          <p:cNvPr id="19" name="Shape 17"/>
          <p:cNvSpPr/>
          <p:nvPr/>
        </p:nvSpPr>
        <p:spPr>
          <a:xfrm>
            <a:off x="8266176" y="4370832"/>
            <a:ext cx="3566160" cy="1371600"/>
          </a:xfrm>
          <a:prstGeom prst="roundRect">
            <a:avLst>
              <a:gd name="adj" fmla="val 5333"/>
            </a:avLst>
          </a:prstGeom>
          <a:solidFill>
            <a:srgbClr val="16202F"/>
          </a:solidFill>
          <a:ln w="12700">
            <a:solidFill>
              <a:srgbClr val="2A3646"/>
            </a:solidFill>
            <a:prstDash val="solid"/>
          </a:ln>
        </p:spPr>
      </p:sp>
      <p:sp>
        <p:nvSpPr>
          <p:cNvPr id="20" name="Text 18"/>
          <p:cNvSpPr txBox="1"/>
          <p:nvPr/>
        </p:nvSpPr>
        <p:spPr>
          <a:xfrm>
            <a:off x="8503920" y="4535424"/>
            <a:ext cx="1097280" cy="237744"/>
          </a:xfrm>
          <a:prstGeom prst="rect">
            <a:avLst/>
          </a:prstGeom>
          <a:noFill/>
          <a:ln/>
        </p:spPr>
        <p:txBody>
          <a:bodyPr wrap="square" lIns="0" tIns="0" rIns="0" bIns="0" rtlCol="0" anchor="ctr"/>
          <a:lstStyle/>
          <a:p>
            <a:pPr indent="0" marL="0">
              <a:buNone/>
            </a:pPr>
            <a:r>
              <a:rPr lang="en-US" sz="950" b="1" spc="120" kern="0" dirty="0">
                <a:solidFill>
                  <a:srgbClr val="F97316"/>
                </a:solidFill>
                <a:latin typeface="Arial" pitchFamily="34" charset="0"/>
                <a:ea typeface="Arial" pitchFamily="34" charset="-122"/>
                <a:cs typeface="Arial" pitchFamily="34" charset="-120"/>
              </a:rPr>
              <a:t>THEN</a:t>
            </a:r>
            <a:endParaRPr lang="en-US" sz="950" dirty="0"/>
          </a:p>
        </p:txBody>
      </p:sp>
      <p:sp>
        <p:nvSpPr>
          <p:cNvPr id="21" name="Text 19"/>
          <p:cNvSpPr txBox="1"/>
          <p:nvPr/>
        </p:nvSpPr>
        <p:spPr>
          <a:xfrm>
            <a:off x="8503920" y="4791456"/>
            <a:ext cx="3090672" cy="292608"/>
          </a:xfrm>
          <a:prstGeom prst="rect">
            <a:avLst/>
          </a:prstGeom>
          <a:noFill/>
          <a:ln/>
        </p:spPr>
        <p:txBody>
          <a:bodyPr wrap="square" lIns="0" tIns="0" rIns="0" bIns="0" rtlCol="0" anchor="ctr"/>
          <a:lstStyle/>
          <a:p>
            <a:pPr indent="0" marL="0">
              <a:buNone/>
            </a:pPr>
            <a:r>
              <a:rPr lang="en-US" sz="1400" b="1" dirty="0">
                <a:solidFill>
                  <a:srgbClr val="F1F5F9"/>
                </a:solidFill>
                <a:latin typeface="Arial" pitchFamily="34" charset="0"/>
                <a:ea typeface="Arial" pitchFamily="34" charset="-122"/>
                <a:cs typeface="Arial" pitchFamily="34" charset="-120"/>
              </a:rPr>
              <a:t>Operational layer</a:t>
            </a:r>
            <a:endParaRPr lang="en-US" sz="1400" dirty="0"/>
          </a:p>
        </p:txBody>
      </p:sp>
      <p:sp>
        <p:nvSpPr>
          <p:cNvPr id="22" name="Text 20"/>
          <p:cNvSpPr txBox="1"/>
          <p:nvPr/>
        </p:nvSpPr>
        <p:spPr>
          <a:xfrm>
            <a:off x="8503920" y="5138928"/>
            <a:ext cx="3090672" cy="512064"/>
          </a:xfrm>
          <a:prstGeom prst="rect">
            <a:avLst/>
          </a:prstGeom>
          <a:noFill/>
          <a:ln/>
        </p:spPr>
        <p:txBody>
          <a:bodyPr wrap="square" lIns="0" tIns="0" rIns="0" bIns="0" rtlCol="0" anchor="ctr"/>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Alerting, historical playback,</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PostGIS, RBAC</a:t>
            </a:r>
            <a:endParaRPr lang="en-US" sz="1100" dirty="0"/>
          </a:p>
        </p:txBody>
      </p:sp>
      <p:sp>
        <p:nvSpPr>
          <p:cNvPr id="24" name="Text 21"/>
          <p:cNvSpPr txBox="1"/>
          <p:nvPr/>
        </p:nvSpPr>
        <p:spPr>
          <a:xfrm>
            <a:off x="566928" y="6345936"/>
            <a:ext cx="64008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AgniDrishti  ·  PS 26162  ·  AsyncMavericks_SIH0162</a:t>
            </a:r>
            <a:endParaRPr lang="en-US" sz="950" dirty="0"/>
          </a:p>
        </p:txBody>
      </p:sp>
      <p:sp>
        <p:nvSpPr>
          <p:cNvPr id="25" name="Text 22"/>
          <p:cNvSpPr txBox="1"/>
          <p:nvPr/>
        </p:nvSpPr>
        <p:spPr>
          <a:xfrm>
            <a:off x="11076127" y="6345936"/>
            <a:ext cx="54864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AgniDrishti — Technical Approach</dc:title>
  <dc:subject>PptxGenJS Presentation</dc:subject>
  <dc:creator>Team AsyncMavericks_SIH0162</dc:creator>
  <cp:lastModifiedBy>Team AsyncMavericks_SIH0162</cp:lastModifiedBy>
  <cp:revision>1</cp:revision>
  <dcterms:created xsi:type="dcterms:W3CDTF">2026-09-19T19:09:18Z</dcterms:created>
  <dcterms:modified xsi:type="dcterms:W3CDTF">2026-09-19T19:09:18Z</dcterms:modified>
</cp:coreProperties>
</file>