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FIRMS tells you where the Earth is hot, not why. A refinery flare triggers a detection every single day, so raw alerts are unusable - operators stop reading them within a week. Our contribution is the interpretation layer.
Key point if challenged: distance to a factory is an input FEATURE, never the label. If proximity decided the label and was also the model input, the model would have learned nothing and its accuracy would be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deep learning: our inputs are about a dozen structured geospatial features over a few hundred examples. A Random Forest is more accurate than a neural network in that regime AND it can show which feature drove each decision - which an operator acting on an alert actually needs.
If asked about the honesty line: judges see inflated accuracy claims constantly. Saying we have not measured it yet, and why, is more credible than a number we cannot defend.
The WorldCover number is worth dwelling on: OSM land-use left 56% of sites unclassifiable. We diagnosed that and switched to a wall-to-wall 10 m raster, read remotely so there is no bulk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A"/>
        </a:solidFill>
      </p:bgPr>
    </p:bg>
    <p:spTree>
      <p:nvGrpSpPr>
        <p:cNvPr id="1" name=""/>
        <p:cNvGrpSpPr/>
        <p:nvPr/>
      </p:nvGrpSpPr>
      <p:grpSpPr>
        <a:xfrm>
          <a:off x="0" y="0"/>
          <a:ext cx="0" cy="0"/>
          <a:chOff x="0" y="0"/>
          <a:chExt cx="0" cy="0"/>
        </a:xfrm>
      </p:grpSpPr>
      <p:sp>
        <p:nvSpPr>
          <p:cNvPr id="2" name="Text 0"/>
          <p:cNvSpPr txBox="1"/>
          <p:nvPr/>
        </p:nvSpPr>
        <p:spPr>
          <a:xfrm>
            <a:off x="548640" y="384048"/>
            <a:ext cx="7772400" cy="54864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Technical Approach</a:t>
            </a:r>
            <a:endParaRPr lang="en-US" sz="3800" dirty="0"/>
          </a:p>
        </p:txBody>
      </p:sp>
      <p:sp>
        <p:nvSpPr>
          <p:cNvPr id="3" name="Text 1"/>
          <p:cNvSpPr txBox="1"/>
          <p:nvPr/>
        </p:nvSpPr>
        <p:spPr>
          <a:xfrm>
            <a:off x="548640" y="941832"/>
            <a:ext cx="7772400" cy="320040"/>
          </a:xfrm>
          <a:prstGeom prst="rect">
            <a:avLst/>
          </a:prstGeom>
          <a:noFill/>
          <a:ln/>
        </p:spPr>
        <p:txBody>
          <a:bodyPr wrap="square" lIns="0" tIns="0" rIns="0" bIns="0" rtlCol="0" anchor="ctr"/>
          <a:lstStyle/>
          <a:p>
            <a:pPr indent="0" marL="0">
              <a:buNone/>
            </a:pPr>
            <a:r>
              <a:rPr lang="en-US" sz="1500" dirty="0">
                <a:solidFill>
                  <a:srgbClr val="93A4BA"/>
                </a:solidFill>
                <a:latin typeface="Calibri" pitchFamily="34" charset="0"/>
                <a:ea typeface="Calibri" pitchFamily="34" charset="-122"/>
                <a:cs typeface="Calibri" pitchFamily="34" charset="-120"/>
              </a:rPr>
              <a:t>From thermal anomaly to classified hotspot</a:t>
            </a:r>
            <a:endParaRPr lang="en-US" sz="1500" dirty="0"/>
          </a:p>
        </p:txBody>
      </p:sp>
      <p:sp>
        <p:nvSpPr>
          <p:cNvPr id="4" name="Text 2"/>
          <p:cNvSpPr txBox="1"/>
          <p:nvPr/>
        </p:nvSpPr>
        <p:spPr>
          <a:xfrm>
            <a:off x="7863840" y="502920"/>
            <a:ext cx="3749040" cy="274320"/>
          </a:xfrm>
          <a:prstGeom prst="rect">
            <a:avLst/>
          </a:prstGeom>
          <a:noFill/>
          <a:ln/>
        </p:spPr>
        <p:txBody>
          <a:bodyPr wrap="square" lIns="0" tIns="0" rIns="0" bIns="0" rtlCol="0" anchor="ctr"/>
          <a:lstStyle/>
          <a:p>
            <a:pPr algn="r" indent="0" marL="0">
              <a:buNone/>
            </a:pPr>
            <a:r>
              <a:rPr lang="en-US" sz="1050" dirty="0">
                <a:solidFill>
                  <a:srgbClr val="93A4BA"/>
                </a:solidFill>
                <a:latin typeface="Calibri" pitchFamily="34" charset="0"/>
                <a:ea typeface="Calibri" pitchFamily="34" charset="-122"/>
                <a:cs typeface="Calibri" pitchFamily="34" charset="-120"/>
              </a:rPr>
              <a:t>PS 26162  ·  NTRO  ·  AsyncMavericks_SIH0162</a:t>
            </a:r>
            <a:endParaRPr lang="en-US" sz="1050" dirty="0"/>
          </a:p>
        </p:txBody>
      </p:sp>
      <p:sp>
        <p:nvSpPr>
          <p:cNvPr id="5" name="Shape 3"/>
          <p:cNvSpPr/>
          <p:nvPr/>
        </p:nvSpPr>
        <p:spPr>
          <a:xfrm>
            <a:off x="548640" y="1572768"/>
            <a:ext cx="2011680" cy="1115568"/>
          </a:xfrm>
          <a:prstGeom prst="roundRect">
            <a:avLst>
              <a:gd name="adj" fmla="val 6557"/>
            </a:avLst>
          </a:prstGeom>
          <a:solidFill>
            <a:srgbClr val="1B2C42"/>
          </a:solidFill>
          <a:ln w="12700">
            <a:solidFill>
              <a:srgbClr val="333333"/>
            </a:solidFill>
            <a:prstDash val="solid"/>
          </a:ln>
        </p:spPr>
      </p:sp>
      <p:sp>
        <p:nvSpPr>
          <p:cNvPr id="6" name="Text 4"/>
          <p:cNvSpPr txBox="1"/>
          <p:nvPr/>
        </p:nvSpPr>
        <p:spPr>
          <a:xfrm>
            <a:off x="548640" y="1691640"/>
            <a:ext cx="2011680" cy="274320"/>
          </a:xfrm>
          <a:prstGeom prst="rect">
            <a:avLst/>
          </a:prstGeom>
          <a:noFill/>
          <a:ln/>
        </p:spPr>
        <p:txBody>
          <a:bodyPr wrap="square" lIns="0" tIns="0" rIns="0" bIns="0" rtlCol="0" anchor="ctr"/>
          <a:lstStyle/>
          <a:p>
            <a:pPr algn="ctr" indent="0" marL="0">
              <a:buNone/>
            </a:pPr>
            <a:r>
              <a:rPr lang="en-US" sz="1300" b="1" spc="100" kern="0" dirty="0">
                <a:solidFill>
                  <a:srgbClr val="EA580C"/>
                </a:solidFill>
                <a:latin typeface="Calibri" pitchFamily="34" charset="0"/>
                <a:ea typeface="Calibri" pitchFamily="34" charset="-122"/>
                <a:cs typeface="Calibri" pitchFamily="34" charset="-120"/>
              </a:rPr>
              <a:t>INGEST</a:t>
            </a:r>
            <a:endParaRPr lang="en-US" sz="1300" dirty="0"/>
          </a:p>
        </p:txBody>
      </p:sp>
      <p:sp>
        <p:nvSpPr>
          <p:cNvPr id="7" name="Text 5"/>
          <p:cNvSpPr txBox="1"/>
          <p:nvPr/>
        </p:nvSpPr>
        <p:spPr>
          <a:xfrm>
            <a:off x="658368" y="2002536"/>
            <a:ext cx="1792224" cy="566928"/>
          </a:xfrm>
          <a:prstGeom prst="rect">
            <a:avLst/>
          </a:prstGeom>
          <a:noFill/>
          <a:ln/>
        </p:spPr>
        <p:txBody>
          <a:bodyPr wrap="square" lIns="0" tIns="0" rIns="0" bIns="0" rtlCol="0" anchor="ctr"/>
          <a:lstStyle/>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NASA FIRMS VIIRS, 375 m</a:t>
            </a:r>
            <a:endParaRPr lang="en-US" sz="950" dirty="0"/>
          </a:p>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3 satellites merged</a:t>
            </a:r>
            <a:endParaRPr lang="en-US" sz="950" dirty="0"/>
          </a:p>
        </p:txBody>
      </p:sp>
      <p:sp>
        <p:nvSpPr>
          <p:cNvPr id="8" name="Text 6"/>
          <p:cNvSpPr txBox="1"/>
          <p:nvPr/>
        </p:nvSpPr>
        <p:spPr>
          <a:xfrm>
            <a:off x="2523744" y="1920240"/>
            <a:ext cx="324612" cy="365760"/>
          </a:xfrm>
          <a:prstGeom prst="rect">
            <a:avLst/>
          </a:prstGeom>
          <a:noFill/>
          <a:ln/>
        </p:spPr>
        <p:txBody>
          <a:bodyPr wrap="square" lIns="0" tIns="0" rIns="0" bIns="0" rtlCol="0" anchor="ctr"/>
          <a:lstStyle/>
          <a:p>
            <a:pPr algn="ctr" indent="0" marL="0">
              <a:buNone/>
            </a:pPr>
            <a:r>
              <a:rPr lang="en-US" sz="1500" b="1" dirty="0">
                <a:solidFill>
                  <a:srgbClr val="EA580C"/>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2811780" y="1572768"/>
            <a:ext cx="2011680" cy="1115568"/>
          </a:xfrm>
          <a:prstGeom prst="roundRect">
            <a:avLst>
              <a:gd name="adj" fmla="val 6557"/>
            </a:avLst>
          </a:prstGeom>
          <a:solidFill>
            <a:srgbClr val="1B2C42"/>
          </a:solidFill>
          <a:ln w="12700">
            <a:solidFill>
              <a:srgbClr val="333333"/>
            </a:solidFill>
            <a:prstDash val="solid"/>
          </a:ln>
        </p:spPr>
      </p:sp>
      <p:sp>
        <p:nvSpPr>
          <p:cNvPr id="10" name="Text 8"/>
          <p:cNvSpPr txBox="1"/>
          <p:nvPr/>
        </p:nvSpPr>
        <p:spPr>
          <a:xfrm>
            <a:off x="2811780" y="1691640"/>
            <a:ext cx="2011680" cy="274320"/>
          </a:xfrm>
          <a:prstGeom prst="rect">
            <a:avLst/>
          </a:prstGeom>
          <a:noFill/>
          <a:ln/>
        </p:spPr>
        <p:txBody>
          <a:bodyPr wrap="square" lIns="0" tIns="0" rIns="0" bIns="0" rtlCol="0" anchor="ctr"/>
          <a:lstStyle/>
          <a:p>
            <a:pPr algn="ctr" indent="0" marL="0">
              <a:buNone/>
            </a:pPr>
            <a:r>
              <a:rPr lang="en-US" sz="1300" b="1" spc="100" kern="0" dirty="0">
                <a:solidFill>
                  <a:srgbClr val="EA580C"/>
                </a:solidFill>
                <a:latin typeface="Calibri" pitchFamily="34" charset="0"/>
                <a:ea typeface="Calibri" pitchFamily="34" charset="-122"/>
                <a:cs typeface="Calibri" pitchFamily="34" charset="-120"/>
              </a:rPr>
              <a:t>CLUSTER</a:t>
            </a:r>
            <a:endParaRPr lang="en-US" sz="1300" dirty="0"/>
          </a:p>
        </p:txBody>
      </p:sp>
      <p:sp>
        <p:nvSpPr>
          <p:cNvPr id="11" name="Text 9"/>
          <p:cNvSpPr txBox="1"/>
          <p:nvPr/>
        </p:nvSpPr>
        <p:spPr>
          <a:xfrm>
            <a:off x="2921508" y="2002536"/>
            <a:ext cx="1792224" cy="566928"/>
          </a:xfrm>
          <a:prstGeom prst="rect">
            <a:avLst/>
          </a:prstGeom>
          <a:noFill/>
          <a:ln/>
        </p:spPr>
        <p:txBody>
          <a:bodyPr wrap="square" lIns="0" tIns="0" rIns="0" bIns="0" rtlCol="0" anchor="ctr"/>
          <a:lstStyle/>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Detections grouped into</a:t>
            </a:r>
            <a:endParaRPr lang="en-US" sz="950" dirty="0"/>
          </a:p>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persistent sites</a:t>
            </a:r>
            <a:endParaRPr lang="en-US" sz="950" dirty="0"/>
          </a:p>
        </p:txBody>
      </p:sp>
      <p:sp>
        <p:nvSpPr>
          <p:cNvPr id="12" name="Text 10"/>
          <p:cNvSpPr txBox="1"/>
          <p:nvPr/>
        </p:nvSpPr>
        <p:spPr>
          <a:xfrm>
            <a:off x="4786884" y="1920240"/>
            <a:ext cx="324612" cy="365760"/>
          </a:xfrm>
          <a:prstGeom prst="rect">
            <a:avLst/>
          </a:prstGeom>
          <a:noFill/>
          <a:ln/>
        </p:spPr>
        <p:txBody>
          <a:bodyPr wrap="square" lIns="0" tIns="0" rIns="0" bIns="0" rtlCol="0" anchor="ctr"/>
          <a:lstStyle/>
          <a:p>
            <a:pPr algn="ctr" indent="0" marL="0">
              <a:buNone/>
            </a:pPr>
            <a:r>
              <a:rPr lang="en-US" sz="1500" b="1" dirty="0">
                <a:solidFill>
                  <a:srgbClr val="EA580C"/>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5074920" y="1572768"/>
            <a:ext cx="2011680" cy="1115568"/>
          </a:xfrm>
          <a:prstGeom prst="roundRect">
            <a:avLst>
              <a:gd name="adj" fmla="val 6557"/>
            </a:avLst>
          </a:prstGeom>
          <a:solidFill>
            <a:srgbClr val="1B2C42"/>
          </a:solidFill>
          <a:ln w="12700">
            <a:solidFill>
              <a:srgbClr val="333333"/>
            </a:solidFill>
            <a:prstDash val="solid"/>
          </a:ln>
        </p:spPr>
      </p:sp>
      <p:sp>
        <p:nvSpPr>
          <p:cNvPr id="14" name="Text 12"/>
          <p:cNvSpPr txBox="1"/>
          <p:nvPr/>
        </p:nvSpPr>
        <p:spPr>
          <a:xfrm>
            <a:off x="5074920" y="1691640"/>
            <a:ext cx="2011680" cy="274320"/>
          </a:xfrm>
          <a:prstGeom prst="rect">
            <a:avLst/>
          </a:prstGeom>
          <a:noFill/>
          <a:ln/>
        </p:spPr>
        <p:txBody>
          <a:bodyPr wrap="square" lIns="0" tIns="0" rIns="0" bIns="0" rtlCol="0" anchor="ctr"/>
          <a:lstStyle/>
          <a:p>
            <a:pPr algn="ctr" indent="0" marL="0">
              <a:buNone/>
            </a:pPr>
            <a:r>
              <a:rPr lang="en-US" sz="1300" b="1" spc="100" kern="0" dirty="0">
                <a:solidFill>
                  <a:srgbClr val="EA580C"/>
                </a:solidFill>
                <a:latin typeface="Calibri" pitchFamily="34" charset="0"/>
                <a:ea typeface="Calibri" pitchFamily="34" charset="-122"/>
                <a:cs typeface="Calibri" pitchFamily="34" charset="-120"/>
              </a:rPr>
              <a:t>ENRICH</a:t>
            </a:r>
            <a:endParaRPr lang="en-US" sz="1300" dirty="0"/>
          </a:p>
        </p:txBody>
      </p:sp>
      <p:sp>
        <p:nvSpPr>
          <p:cNvPr id="15" name="Text 13"/>
          <p:cNvSpPr txBox="1"/>
          <p:nvPr/>
        </p:nvSpPr>
        <p:spPr>
          <a:xfrm>
            <a:off x="5184648" y="2002536"/>
            <a:ext cx="1792224" cy="566928"/>
          </a:xfrm>
          <a:prstGeom prst="rect">
            <a:avLst/>
          </a:prstGeom>
          <a:noFill/>
          <a:ln/>
        </p:spPr>
        <p:txBody>
          <a:bodyPr wrap="square" lIns="0" tIns="0" rIns="0" bIns="0" rtlCol="0" anchor="ctr"/>
          <a:lstStyle/>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OSM infrastructure +</a:t>
            </a:r>
            <a:endParaRPr lang="en-US" sz="950" dirty="0"/>
          </a:p>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ESA WorldCover 10 m</a:t>
            </a:r>
            <a:endParaRPr lang="en-US" sz="950" dirty="0"/>
          </a:p>
        </p:txBody>
      </p:sp>
      <p:sp>
        <p:nvSpPr>
          <p:cNvPr id="16" name="Text 14"/>
          <p:cNvSpPr txBox="1"/>
          <p:nvPr/>
        </p:nvSpPr>
        <p:spPr>
          <a:xfrm>
            <a:off x="7050024" y="1920240"/>
            <a:ext cx="324612" cy="365760"/>
          </a:xfrm>
          <a:prstGeom prst="rect">
            <a:avLst/>
          </a:prstGeom>
          <a:noFill/>
          <a:ln/>
        </p:spPr>
        <p:txBody>
          <a:bodyPr wrap="square" lIns="0" tIns="0" rIns="0" bIns="0" rtlCol="0" anchor="ctr"/>
          <a:lstStyle/>
          <a:p>
            <a:pPr algn="ctr" indent="0" marL="0">
              <a:buNone/>
            </a:pPr>
            <a:r>
              <a:rPr lang="en-US" sz="1500" b="1" dirty="0">
                <a:solidFill>
                  <a:srgbClr val="EA580C"/>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7338060" y="1572768"/>
            <a:ext cx="2011680" cy="1115568"/>
          </a:xfrm>
          <a:prstGeom prst="roundRect">
            <a:avLst>
              <a:gd name="adj" fmla="val 6557"/>
            </a:avLst>
          </a:prstGeom>
          <a:solidFill>
            <a:srgbClr val="1B2C42"/>
          </a:solidFill>
          <a:ln w="12700">
            <a:solidFill>
              <a:srgbClr val="333333"/>
            </a:solidFill>
            <a:prstDash val="solid"/>
          </a:ln>
        </p:spPr>
      </p:sp>
      <p:sp>
        <p:nvSpPr>
          <p:cNvPr id="18" name="Text 16"/>
          <p:cNvSpPr txBox="1"/>
          <p:nvPr/>
        </p:nvSpPr>
        <p:spPr>
          <a:xfrm>
            <a:off x="7338060" y="1691640"/>
            <a:ext cx="2011680" cy="274320"/>
          </a:xfrm>
          <a:prstGeom prst="rect">
            <a:avLst/>
          </a:prstGeom>
          <a:noFill/>
          <a:ln/>
        </p:spPr>
        <p:txBody>
          <a:bodyPr wrap="square" lIns="0" tIns="0" rIns="0" bIns="0" rtlCol="0" anchor="ctr"/>
          <a:lstStyle/>
          <a:p>
            <a:pPr algn="ctr" indent="0" marL="0">
              <a:buNone/>
            </a:pPr>
            <a:r>
              <a:rPr lang="en-US" sz="1300" b="1" spc="100" kern="0" dirty="0">
                <a:solidFill>
                  <a:srgbClr val="EA580C"/>
                </a:solidFill>
                <a:latin typeface="Calibri" pitchFamily="34" charset="0"/>
                <a:ea typeface="Calibri" pitchFamily="34" charset="-122"/>
                <a:cs typeface="Calibri" pitchFamily="34" charset="-120"/>
              </a:rPr>
              <a:t>CLASSIFY</a:t>
            </a:r>
            <a:endParaRPr lang="en-US" sz="1300" dirty="0"/>
          </a:p>
        </p:txBody>
      </p:sp>
      <p:sp>
        <p:nvSpPr>
          <p:cNvPr id="19" name="Text 17"/>
          <p:cNvSpPr txBox="1"/>
          <p:nvPr/>
        </p:nvSpPr>
        <p:spPr>
          <a:xfrm>
            <a:off x="7447788" y="2002536"/>
            <a:ext cx="1792224" cy="566928"/>
          </a:xfrm>
          <a:prstGeom prst="rect">
            <a:avLst/>
          </a:prstGeom>
          <a:noFill/>
          <a:ln/>
        </p:spPr>
        <p:txBody>
          <a:bodyPr wrap="square" lIns="0" tIns="0" rIns="0" bIns="0" rtlCol="0" anchor="ctr"/>
          <a:lstStyle/>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Random Forest behind</a:t>
            </a:r>
            <a:endParaRPr lang="en-US" sz="950" dirty="0"/>
          </a:p>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a fixed interface</a:t>
            </a:r>
            <a:endParaRPr lang="en-US" sz="950" dirty="0"/>
          </a:p>
        </p:txBody>
      </p:sp>
      <p:sp>
        <p:nvSpPr>
          <p:cNvPr id="20" name="Text 18"/>
          <p:cNvSpPr txBox="1"/>
          <p:nvPr/>
        </p:nvSpPr>
        <p:spPr>
          <a:xfrm>
            <a:off x="9313164" y="1920240"/>
            <a:ext cx="324612" cy="365760"/>
          </a:xfrm>
          <a:prstGeom prst="rect">
            <a:avLst/>
          </a:prstGeom>
          <a:noFill/>
          <a:ln/>
        </p:spPr>
        <p:txBody>
          <a:bodyPr wrap="square" lIns="0" tIns="0" rIns="0" bIns="0" rtlCol="0" anchor="ctr"/>
          <a:lstStyle/>
          <a:p>
            <a:pPr algn="ctr" indent="0" marL="0">
              <a:buNone/>
            </a:pPr>
            <a:r>
              <a:rPr lang="en-US" sz="1500" b="1" dirty="0">
                <a:solidFill>
                  <a:srgbClr val="EA580C"/>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9601200" y="1572768"/>
            <a:ext cx="2011680" cy="1115568"/>
          </a:xfrm>
          <a:prstGeom prst="roundRect">
            <a:avLst>
              <a:gd name="adj" fmla="val 6557"/>
            </a:avLst>
          </a:prstGeom>
          <a:solidFill>
            <a:srgbClr val="1B2C42"/>
          </a:solidFill>
          <a:ln w="12700">
            <a:solidFill>
              <a:srgbClr val="333333"/>
            </a:solidFill>
            <a:prstDash val="solid"/>
          </a:ln>
        </p:spPr>
      </p:sp>
      <p:sp>
        <p:nvSpPr>
          <p:cNvPr id="22" name="Text 20"/>
          <p:cNvSpPr txBox="1"/>
          <p:nvPr/>
        </p:nvSpPr>
        <p:spPr>
          <a:xfrm>
            <a:off x="9601200" y="1691640"/>
            <a:ext cx="2011680" cy="274320"/>
          </a:xfrm>
          <a:prstGeom prst="rect">
            <a:avLst/>
          </a:prstGeom>
          <a:noFill/>
          <a:ln/>
        </p:spPr>
        <p:txBody>
          <a:bodyPr wrap="square" lIns="0" tIns="0" rIns="0" bIns="0" rtlCol="0" anchor="ctr"/>
          <a:lstStyle/>
          <a:p>
            <a:pPr algn="ctr" indent="0" marL="0">
              <a:buNone/>
            </a:pPr>
            <a:r>
              <a:rPr lang="en-US" sz="1300" b="1" spc="100" kern="0" dirty="0">
                <a:solidFill>
                  <a:srgbClr val="EA580C"/>
                </a:solidFill>
                <a:latin typeface="Calibri" pitchFamily="34" charset="0"/>
                <a:ea typeface="Calibri" pitchFamily="34" charset="-122"/>
                <a:cs typeface="Calibri" pitchFamily="34" charset="-120"/>
              </a:rPr>
              <a:t>VISUALISE</a:t>
            </a:r>
            <a:endParaRPr lang="en-US" sz="1300" dirty="0"/>
          </a:p>
        </p:txBody>
      </p:sp>
      <p:sp>
        <p:nvSpPr>
          <p:cNvPr id="23" name="Text 21"/>
          <p:cNvSpPr txBox="1"/>
          <p:nvPr/>
        </p:nvSpPr>
        <p:spPr>
          <a:xfrm>
            <a:off x="9710928" y="2002536"/>
            <a:ext cx="1792224" cy="566928"/>
          </a:xfrm>
          <a:prstGeom prst="rect">
            <a:avLst/>
          </a:prstGeom>
          <a:noFill/>
          <a:ln/>
        </p:spPr>
        <p:txBody>
          <a:bodyPr wrap="square" lIns="0" tIns="0" rIns="0" bIns="0" rtlCol="0" anchor="ctr"/>
          <a:lstStyle/>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Map, evidence panel,</a:t>
            </a:r>
            <a:endParaRPr lang="en-US" sz="950" dirty="0"/>
          </a:p>
          <a:p>
            <a:pPr algn="ctr" indent="0" marL="0">
              <a:lnSpc>
                <a:spcPts val="1200"/>
              </a:lnSpc>
              <a:buNone/>
            </a:pPr>
            <a:r>
              <a:rPr lang="en-US" sz="950" dirty="0">
                <a:solidFill>
                  <a:srgbClr val="93A4BA"/>
                </a:solidFill>
                <a:latin typeface="Calibri" pitchFamily="34" charset="0"/>
                <a:ea typeface="Calibri" pitchFamily="34" charset="-122"/>
                <a:cs typeface="Calibri" pitchFamily="34" charset="-120"/>
              </a:rPr>
              <a:t>temporal analytics</a:t>
            </a:r>
            <a:endParaRPr lang="en-US" sz="950" dirty="0"/>
          </a:p>
        </p:txBody>
      </p:sp>
      <p:sp>
        <p:nvSpPr>
          <p:cNvPr id="24" name="Shape 22"/>
          <p:cNvSpPr/>
          <p:nvPr/>
        </p:nvSpPr>
        <p:spPr>
          <a:xfrm>
            <a:off x="548640" y="2907792"/>
            <a:ext cx="11064240" cy="1298448"/>
          </a:xfrm>
          <a:prstGeom prst="roundRect">
            <a:avLst>
              <a:gd name="adj" fmla="val 5634"/>
            </a:avLst>
          </a:prstGeom>
          <a:solidFill>
            <a:srgbClr val="17293E"/>
          </a:solidFill>
          <a:ln w="12700">
            <a:solidFill>
              <a:srgbClr val="333333"/>
            </a:solidFill>
            <a:prstDash val="solid"/>
          </a:ln>
        </p:spPr>
      </p:sp>
      <p:sp>
        <p:nvSpPr>
          <p:cNvPr id="25" name="Shape 23"/>
          <p:cNvSpPr/>
          <p:nvPr/>
        </p:nvSpPr>
        <p:spPr>
          <a:xfrm>
            <a:off x="841248" y="3246120"/>
            <a:ext cx="548640" cy="548640"/>
          </a:xfrm>
          <a:prstGeom prst="ellipse">
            <a:avLst/>
          </a:prstGeom>
          <a:solidFill>
            <a:srgbClr val="EA580C"/>
          </a:solidFill>
          <a:ln w="12700">
            <a:solidFill>
              <a:srgbClr val="333333"/>
            </a:solidFill>
            <a:prstDash val="solid"/>
          </a:ln>
        </p:spPr>
      </p:sp>
      <p:sp>
        <p:nvSpPr>
          <p:cNvPr id="26" name="Text 24"/>
          <p:cNvSpPr txBox="1"/>
          <p:nvPr/>
        </p:nvSpPr>
        <p:spPr>
          <a:xfrm>
            <a:off x="841248" y="3291840"/>
            <a:ext cx="54864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txBox="1"/>
          <p:nvPr/>
        </p:nvSpPr>
        <p:spPr>
          <a:xfrm>
            <a:off x="1600200" y="3054096"/>
            <a:ext cx="9692640" cy="658368"/>
          </a:xfrm>
          <a:prstGeom prst="rect">
            <a:avLst/>
          </a:prstGeom>
          <a:noFill/>
          <a:ln/>
        </p:spPr>
        <p:txBody>
          <a:bodyPr wrap="square" lIns="0" tIns="0" rIns="0" bIns="0" rtlCol="0" anchor="ctr"/>
          <a:lstStyle/>
          <a:p>
            <a:pPr indent="0" marL="0">
              <a:lnSpc>
                <a:spcPts val="1900"/>
              </a:lnSpc>
              <a:buNone/>
            </a:pPr>
            <a:r>
              <a:rPr lang="en-US" sz="1350" dirty="0">
                <a:solidFill>
                  <a:srgbClr val="D7E2EF"/>
                </a:solidFill>
                <a:latin typeface="Calibri" pitchFamily="34" charset="0"/>
                <a:ea typeface="Calibri" pitchFamily="34" charset="-122"/>
                <a:cs typeface="Calibri" pitchFamily="34" charset="-120"/>
              </a:rPr>
              <a:t>A single snapshot cannot separate an industrial fire from a routine gas flare — both are hot, both sit on industrial land. The discriminator is </a:t>
            </a:r>
            <a:pPr indent="0" marL="0">
              <a:lnSpc>
                <a:spcPts val="1900"/>
              </a:lnSpc>
              <a:buNone/>
            </a:pPr>
            <a:r>
              <a:rPr lang="en-US" sz="1350" b="1" i="1" dirty="0">
                <a:solidFill>
                  <a:srgbClr val="FFFFFF"/>
                </a:solidFill>
                <a:latin typeface="Calibri" pitchFamily="34" charset="0"/>
                <a:ea typeface="Calibri" pitchFamily="34" charset="-122"/>
                <a:cs typeface="Calibri" pitchFamily="34" charset="-120"/>
              </a:rPr>
              <a:t>temporal</a:t>
            </a:r>
            <a:pPr indent="0" marL="0">
              <a:lnSpc>
                <a:spcPts val="1900"/>
              </a:lnSpc>
              <a:buNone/>
            </a:pPr>
            <a:r>
              <a:rPr lang="en-US" sz="1350" dirty="0">
                <a:solidFill>
                  <a:srgbClr val="D7E2EF"/>
                </a:solidFill>
                <a:latin typeface="Calibri" pitchFamily="34" charset="0"/>
                <a:ea typeface="Calibri" pitchFamily="34" charset="-122"/>
                <a:cs typeface="Calibri" pitchFamily="34" charset="-120"/>
              </a:rPr>
              <a:t>: a flare recurs at stable radiative power, a fire is episodic and erratic.</a:t>
            </a:r>
            <a:endParaRPr lang="en-US" sz="1350" dirty="0"/>
          </a:p>
        </p:txBody>
      </p:sp>
      <p:sp>
        <p:nvSpPr>
          <p:cNvPr id="28" name="Text 26"/>
          <p:cNvSpPr txBox="1"/>
          <p:nvPr/>
        </p:nvSpPr>
        <p:spPr>
          <a:xfrm>
            <a:off x="1600200" y="3712464"/>
            <a:ext cx="9692640" cy="310896"/>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We classify locations, not detections.</a:t>
            </a:r>
            <a:endParaRPr lang="en-US" sz="1400" dirty="0"/>
          </a:p>
        </p:txBody>
      </p:sp>
      <p:sp>
        <p:nvSpPr>
          <p:cNvPr id="29" name="Text 27"/>
          <p:cNvSpPr txBox="1"/>
          <p:nvPr/>
        </p:nvSpPr>
        <p:spPr>
          <a:xfrm>
            <a:off x="548640" y="4407408"/>
            <a:ext cx="4572000" cy="237744"/>
          </a:xfrm>
          <a:prstGeom prst="rect">
            <a:avLst/>
          </a:prstGeom>
          <a:noFill/>
          <a:ln/>
        </p:spPr>
        <p:txBody>
          <a:bodyPr wrap="square" lIns="0" tIns="0" rIns="0" bIns="0" rtlCol="0" anchor="ctr"/>
          <a:lstStyle/>
          <a:p>
            <a:pPr indent="0" marL="0">
              <a:buNone/>
            </a:pPr>
            <a:r>
              <a:rPr lang="en-US" sz="1000" b="1" spc="160" kern="0" dirty="0">
                <a:solidFill>
                  <a:srgbClr val="93A4BA"/>
                </a:solidFill>
                <a:latin typeface="Calibri" pitchFamily="34" charset="0"/>
                <a:ea typeface="Calibri" pitchFamily="34" charset="-122"/>
                <a:cs typeface="Calibri" pitchFamily="34" charset="-120"/>
              </a:rPr>
              <a:t>OUTPUT CLASSES</a:t>
            </a:r>
            <a:endParaRPr lang="en-US" sz="1000" dirty="0"/>
          </a:p>
        </p:txBody>
      </p:sp>
      <p:sp>
        <p:nvSpPr>
          <p:cNvPr id="30" name="Shape 28"/>
          <p:cNvSpPr/>
          <p:nvPr/>
        </p:nvSpPr>
        <p:spPr>
          <a:xfrm>
            <a:off x="548640" y="4736592"/>
            <a:ext cx="2560320" cy="749808"/>
          </a:xfrm>
          <a:prstGeom prst="roundRect">
            <a:avLst>
              <a:gd name="adj" fmla="val 8537"/>
            </a:avLst>
          </a:prstGeom>
          <a:solidFill>
            <a:srgbClr val="1B2C42"/>
          </a:solidFill>
          <a:ln w="12700">
            <a:solidFill>
              <a:srgbClr val="333333"/>
            </a:solidFill>
            <a:prstDash val="solid"/>
          </a:ln>
        </p:spPr>
      </p:sp>
      <p:sp>
        <p:nvSpPr>
          <p:cNvPr id="31" name="Shape 29"/>
          <p:cNvSpPr/>
          <p:nvPr/>
        </p:nvSpPr>
        <p:spPr>
          <a:xfrm>
            <a:off x="731520" y="4956048"/>
            <a:ext cx="182880" cy="182880"/>
          </a:xfrm>
          <a:prstGeom prst="ellipse">
            <a:avLst/>
          </a:prstGeom>
          <a:solidFill>
            <a:srgbClr val="DC2626"/>
          </a:solidFill>
          <a:ln w="12700">
            <a:solidFill>
              <a:srgbClr val="333333"/>
            </a:solidFill>
            <a:prstDash val="solid"/>
          </a:ln>
        </p:spPr>
      </p:sp>
      <p:sp>
        <p:nvSpPr>
          <p:cNvPr id="32" name="Text 30"/>
          <p:cNvSpPr txBox="1"/>
          <p:nvPr/>
        </p:nvSpPr>
        <p:spPr>
          <a:xfrm>
            <a:off x="1005840" y="4855464"/>
            <a:ext cx="19659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Industrial fire</a:t>
            </a:r>
            <a:endParaRPr lang="en-US" sz="1150" dirty="0"/>
          </a:p>
        </p:txBody>
      </p:sp>
      <p:sp>
        <p:nvSpPr>
          <p:cNvPr id="33" name="Text 31"/>
          <p:cNvSpPr txBox="1"/>
          <p:nvPr/>
        </p:nvSpPr>
        <p:spPr>
          <a:xfrm>
            <a:off x="1005840" y="5102352"/>
            <a:ext cx="1965960" cy="219456"/>
          </a:xfrm>
          <a:prstGeom prst="rect">
            <a:avLst/>
          </a:prstGeom>
          <a:noFill/>
          <a:ln/>
        </p:spPr>
        <p:txBody>
          <a:bodyPr wrap="square" lIns="0" tIns="0" rIns="0" bIns="0" rtlCol="0" anchor="ctr"/>
          <a:lstStyle/>
          <a:p>
            <a:pPr indent="0" marL="0">
              <a:buNone/>
            </a:pPr>
            <a:r>
              <a:rPr lang="en-US" sz="900" dirty="0">
                <a:solidFill>
                  <a:srgbClr val="93A4BA"/>
                </a:solidFill>
                <a:latin typeface="Calibri" pitchFamily="34" charset="0"/>
                <a:ea typeface="Calibri" pitchFamily="34" charset="-122"/>
                <a:cs typeface="Calibri" pitchFamily="34" charset="-120"/>
              </a:rPr>
              <a:t>High FRP · episodic or erratic</a:t>
            </a:r>
            <a:endParaRPr lang="en-US" sz="900" dirty="0"/>
          </a:p>
        </p:txBody>
      </p:sp>
      <p:sp>
        <p:nvSpPr>
          <p:cNvPr id="34" name="Shape 32"/>
          <p:cNvSpPr/>
          <p:nvPr/>
        </p:nvSpPr>
        <p:spPr>
          <a:xfrm>
            <a:off x="3383280" y="4736592"/>
            <a:ext cx="2560320" cy="749808"/>
          </a:xfrm>
          <a:prstGeom prst="roundRect">
            <a:avLst>
              <a:gd name="adj" fmla="val 8537"/>
            </a:avLst>
          </a:prstGeom>
          <a:solidFill>
            <a:srgbClr val="1B2C42"/>
          </a:solidFill>
          <a:ln w="12700">
            <a:solidFill>
              <a:srgbClr val="333333"/>
            </a:solidFill>
            <a:prstDash val="solid"/>
          </a:ln>
        </p:spPr>
      </p:sp>
      <p:sp>
        <p:nvSpPr>
          <p:cNvPr id="35" name="Shape 33"/>
          <p:cNvSpPr/>
          <p:nvPr/>
        </p:nvSpPr>
        <p:spPr>
          <a:xfrm>
            <a:off x="3566160" y="4956048"/>
            <a:ext cx="182880" cy="182880"/>
          </a:xfrm>
          <a:prstGeom prst="ellipse">
            <a:avLst/>
          </a:prstGeom>
          <a:solidFill>
            <a:srgbClr val="EA580C"/>
          </a:solidFill>
          <a:ln w="12700">
            <a:solidFill>
              <a:srgbClr val="333333"/>
            </a:solidFill>
            <a:prstDash val="solid"/>
          </a:ln>
        </p:spPr>
      </p:sp>
      <p:sp>
        <p:nvSpPr>
          <p:cNvPr id="36" name="Text 34"/>
          <p:cNvSpPr txBox="1"/>
          <p:nvPr/>
        </p:nvSpPr>
        <p:spPr>
          <a:xfrm>
            <a:off x="3840480" y="4855464"/>
            <a:ext cx="19659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Persistent thermal source</a:t>
            </a:r>
            <a:endParaRPr lang="en-US" sz="1150" dirty="0"/>
          </a:p>
        </p:txBody>
      </p:sp>
      <p:sp>
        <p:nvSpPr>
          <p:cNvPr id="37" name="Text 35"/>
          <p:cNvSpPr txBox="1"/>
          <p:nvPr/>
        </p:nvSpPr>
        <p:spPr>
          <a:xfrm>
            <a:off x="3840480" y="5102352"/>
            <a:ext cx="1965960" cy="219456"/>
          </a:xfrm>
          <a:prstGeom prst="rect">
            <a:avLst/>
          </a:prstGeom>
          <a:noFill/>
          <a:ln/>
        </p:spPr>
        <p:txBody>
          <a:bodyPr wrap="square" lIns="0" tIns="0" rIns="0" bIns="0" rtlCol="0" anchor="ctr"/>
          <a:lstStyle/>
          <a:p>
            <a:pPr indent="0" marL="0">
              <a:buNone/>
            </a:pPr>
            <a:r>
              <a:rPr lang="en-US" sz="900" dirty="0">
                <a:solidFill>
                  <a:srgbClr val="93A4BA"/>
                </a:solidFill>
                <a:latin typeface="Calibri" pitchFamily="34" charset="0"/>
                <a:ea typeface="Calibri" pitchFamily="34" charset="-122"/>
                <a:cs typeface="Calibri" pitchFamily="34" charset="-120"/>
              </a:rPr>
              <a:t>Recurrent · stable FRP</a:t>
            </a:r>
            <a:endParaRPr lang="en-US" sz="900" dirty="0"/>
          </a:p>
        </p:txBody>
      </p:sp>
      <p:sp>
        <p:nvSpPr>
          <p:cNvPr id="38" name="Shape 36"/>
          <p:cNvSpPr/>
          <p:nvPr/>
        </p:nvSpPr>
        <p:spPr>
          <a:xfrm>
            <a:off x="6217920" y="4736592"/>
            <a:ext cx="2560320" cy="749808"/>
          </a:xfrm>
          <a:prstGeom prst="roundRect">
            <a:avLst>
              <a:gd name="adj" fmla="val 8537"/>
            </a:avLst>
          </a:prstGeom>
          <a:solidFill>
            <a:srgbClr val="1B2C42"/>
          </a:solidFill>
          <a:ln w="12700">
            <a:solidFill>
              <a:srgbClr val="333333"/>
            </a:solidFill>
            <a:prstDash val="solid"/>
          </a:ln>
        </p:spPr>
      </p:sp>
      <p:sp>
        <p:nvSpPr>
          <p:cNvPr id="39" name="Shape 37"/>
          <p:cNvSpPr/>
          <p:nvPr/>
        </p:nvSpPr>
        <p:spPr>
          <a:xfrm>
            <a:off x="6400800" y="4956048"/>
            <a:ext cx="182880" cy="182880"/>
          </a:xfrm>
          <a:prstGeom prst="ellipse">
            <a:avLst/>
          </a:prstGeom>
          <a:solidFill>
            <a:srgbClr val="16A34A"/>
          </a:solidFill>
          <a:ln w="12700">
            <a:solidFill>
              <a:srgbClr val="333333"/>
            </a:solidFill>
            <a:prstDash val="solid"/>
          </a:ln>
        </p:spPr>
      </p:sp>
      <p:sp>
        <p:nvSpPr>
          <p:cNvPr id="40" name="Text 38"/>
          <p:cNvSpPr txBox="1"/>
          <p:nvPr/>
        </p:nvSpPr>
        <p:spPr>
          <a:xfrm>
            <a:off x="6675120" y="4855464"/>
            <a:ext cx="19659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Vegetation fire</a:t>
            </a:r>
            <a:endParaRPr lang="en-US" sz="1150" dirty="0"/>
          </a:p>
        </p:txBody>
      </p:sp>
      <p:sp>
        <p:nvSpPr>
          <p:cNvPr id="41" name="Text 39"/>
          <p:cNvSpPr txBox="1"/>
          <p:nvPr/>
        </p:nvSpPr>
        <p:spPr>
          <a:xfrm>
            <a:off x="6675120" y="5102352"/>
            <a:ext cx="1965960" cy="219456"/>
          </a:xfrm>
          <a:prstGeom prst="rect">
            <a:avLst/>
          </a:prstGeom>
          <a:noFill/>
          <a:ln/>
        </p:spPr>
        <p:txBody>
          <a:bodyPr wrap="square" lIns="0" tIns="0" rIns="0" bIns="0" rtlCol="0" anchor="ctr"/>
          <a:lstStyle/>
          <a:p>
            <a:pPr indent="0" marL="0">
              <a:buNone/>
            </a:pPr>
            <a:r>
              <a:rPr lang="en-US" sz="900" dirty="0">
                <a:solidFill>
                  <a:srgbClr val="93A4BA"/>
                </a:solidFill>
                <a:latin typeface="Calibri" pitchFamily="34" charset="0"/>
                <a:ea typeface="Calibri" pitchFamily="34" charset="-122"/>
                <a:cs typeface="Calibri" pitchFamily="34" charset="-120"/>
              </a:rPr>
              <a:t>Vegetated land cover</a:t>
            </a:r>
            <a:endParaRPr lang="en-US" sz="900" dirty="0"/>
          </a:p>
        </p:txBody>
      </p:sp>
      <p:sp>
        <p:nvSpPr>
          <p:cNvPr id="42" name="Shape 40"/>
          <p:cNvSpPr/>
          <p:nvPr/>
        </p:nvSpPr>
        <p:spPr>
          <a:xfrm>
            <a:off x="9052560" y="4736592"/>
            <a:ext cx="2560320" cy="749808"/>
          </a:xfrm>
          <a:prstGeom prst="roundRect">
            <a:avLst>
              <a:gd name="adj" fmla="val 8537"/>
            </a:avLst>
          </a:prstGeom>
          <a:solidFill>
            <a:srgbClr val="1B2C42"/>
          </a:solidFill>
          <a:ln w="12700">
            <a:solidFill>
              <a:srgbClr val="333333"/>
            </a:solidFill>
            <a:prstDash val="solid"/>
          </a:ln>
        </p:spPr>
      </p:sp>
      <p:sp>
        <p:nvSpPr>
          <p:cNvPr id="43" name="Shape 41"/>
          <p:cNvSpPr/>
          <p:nvPr/>
        </p:nvSpPr>
        <p:spPr>
          <a:xfrm>
            <a:off x="9235440" y="4956048"/>
            <a:ext cx="182880" cy="182880"/>
          </a:xfrm>
          <a:prstGeom prst="ellipse">
            <a:avLst/>
          </a:prstGeom>
          <a:solidFill>
            <a:srgbClr val="94A3B8"/>
          </a:solidFill>
          <a:ln w="12700">
            <a:solidFill>
              <a:srgbClr val="333333"/>
            </a:solidFill>
            <a:prstDash val="solid"/>
          </a:ln>
        </p:spPr>
      </p:sp>
      <p:sp>
        <p:nvSpPr>
          <p:cNvPr id="44" name="Text 42"/>
          <p:cNvSpPr txBox="1"/>
          <p:nvPr/>
        </p:nvSpPr>
        <p:spPr>
          <a:xfrm>
            <a:off x="9509760" y="4855464"/>
            <a:ext cx="196596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Other / uncertain</a:t>
            </a:r>
            <a:endParaRPr lang="en-US" sz="1150" dirty="0"/>
          </a:p>
        </p:txBody>
      </p:sp>
      <p:sp>
        <p:nvSpPr>
          <p:cNvPr id="45" name="Text 43"/>
          <p:cNvSpPr txBox="1"/>
          <p:nvPr/>
        </p:nvSpPr>
        <p:spPr>
          <a:xfrm>
            <a:off x="9509760" y="5102352"/>
            <a:ext cx="1965960" cy="219456"/>
          </a:xfrm>
          <a:prstGeom prst="rect">
            <a:avLst/>
          </a:prstGeom>
          <a:noFill/>
          <a:ln/>
        </p:spPr>
        <p:txBody>
          <a:bodyPr wrap="square" lIns="0" tIns="0" rIns="0" bIns="0" rtlCol="0" anchor="ctr"/>
          <a:lstStyle/>
          <a:p>
            <a:pPr indent="0" marL="0">
              <a:buNone/>
            </a:pPr>
            <a:r>
              <a:rPr lang="en-US" sz="900" dirty="0">
                <a:solidFill>
                  <a:srgbClr val="93A4BA"/>
                </a:solidFill>
                <a:latin typeface="Calibri" pitchFamily="34" charset="0"/>
                <a:ea typeface="Calibri" pitchFamily="34" charset="-122"/>
                <a:cs typeface="Calibri" pitchFamily="34" charset="-120"/>
              </a:rPr>
              <a:t>Evidence insufficient</a:t>
            </a:r>
            <a:endParaRPr lang="en-US" sz="900" dirty="0"/>
          </a:p>
        </p:txBody>
      </p:sp>
      <p:sp>
        <p:nvSpPr>
          <p:cNvPr id="46" name="Text 44"/>
          <p:cNvSpPr txBox="1"/>
          <p:nvPr/>
        </p:nvSpPr>
        <p:spPr>
          <a:xfrm>
            <a:off x="548640" y="5779008"/>
            <a:ext cx="11064240" cy="320040"/>
          </a:xfrm>
          <a:prstGeom prst="rect">
            <a:avLst/>
          </a:prstGeom>
          <a:noFill/>
          <a:ln/>
        </p:spPr>
        <p:txBody>
          <a:bodyPr wrap="square" lIns="0" tIns="0" rIns="0" bIns="0" rtlCol="0" anchor="ctr"/>
          <a:lstStyle/>
          <a:p>
            <a:pPr indent="0" marL="0">
              <a:buNone/>
            </a:pPr>
            <a:r>
              <a:rPr lang="en-US" sz="1200" i="1" dirty="0">
                <a:solidFill>
                  <a:srgbClr val="93A4BA"/>
                </a:solidFill>
                <a:latin typeface="Calibri" pitchFamily="34" charset="0"/>
                <a:ea typeface="Calibri" pitchFamily="34" charset="-122"/>
                <a:cs typeface="Calibri" pitchFamily="34" charset="-120"/>
              </a:rPr>
              <a:t>Every classification is displayed with the evidence that produced it — recurrence, FRP stability, distance to infrastructure, land cover.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548640" y="384048"/>
            <a:ext cx="7772400" cy="548640"/>
          </a:xfrm>
          <a:prstGeom prst="rect">
            <a:avLst/>
          </a:prstGeom>
          <a:noFill/>
          <a:ln/>
        </p:spPr>
        <p:txBody>
          <a:bodyPr wrap="square" lIns="0" tIns="0" rIns="0" bIns="0" rtlCol="0" anchor="ctr"/>
          <a:lstStyle/>
          <a:p>
            <a:pPr indent="0" marL="0">
              <a:buNone/>
            </a:pPr>
            <a:r>
              <a:rPr lang="en-US" sz="3800" b="1" dirty="0">
                <a:solidFill>
                  <a:srgbClr val="0F1B2A"/>
                </a:solidFill>
                <a:latin typeface="Calibri" pitchFamily="34" charset="0"/>
                <a:ea typeface="Calibri" pitchFamily="34" charset="-122"/>
                <a:cs typeface="Calibri" pitchFamily="34" charset="-120"/>
              </a:rPr>
              <a:t>Technology Stack</a:t>
            </a:r>
            <a:endParaRPr lang="en-US" sz="3800" dirty="0"/>
          </a:p>
        </p:txBody>
      </p:sp>
      <p:sp>
        <p:nvSpPr>
          <p:cNvPr id="3" name="Text 1"/>
          <p:cNvSpPr txBox="1"/>
          <p:nvPr/>
        </p:nvSpPr>
        <p:spPr>
          <a:xfrm>
            <a:off x="548640" y="941832"/>
            <a:ext cx="7772400" cy="320040"/>
          </a:xfrm>
          <a:prstGeom prst="rect">
            <a:avLst/>
          </a:prstGeom>
          <a:noFill/>
          <a:ln/>
        </p:spPr>
        <p:txBody>
          <a:bodyPr wrap="square" lIns="0" tIns="0" rIns="0" bIns="0" rtlCol="0" anchor="ctr"/>
          <a:lstStyle/>
          <a:p>
            <a:pPr indent="0" marL="0">
              <a:buNone/>
            </a:pPr>
            <a:r>
              <a:rPr lang="en-US" sz="1500" dirty="0">
                <a:solidFill>
                  <a:srgbClr val="44576F"/>
                </a:solidFill>
                <a:latin typeface="Calibri" pitchFamily="34" charset="0"/>
                <a:ea typeface="Calibri" pitchFamily="34" charset="-122"/>
                <a:cs typeface="Calibri" pitchFamily="34" charset="-120"/>
              </a:rPr>
              <a:t>Chosen for explainability, and to scale without rewriting the core pipeline</a:t>
            </a:r>
            <a:endParaRPr lang="en-US" sz="1500" dirty="0"/>
          </a:p>
        </p:txBody>
      </p:sp>
      <p:sp>
        <p:nvSpPr>
          <p:cNvPr id="4" name="Text 2"/>
          <p:cNvSpPr txBox="1"/>
          <p:nvPr/>
        </p:nvSpPr>
        <p:spPr>
          <a:xfrm>
            <a:off x="7863840" y="502920"/>
            <a:ext cx="3749040" cy="274320"/>
          </a:xfrm>
          <a:prstGeom prst="rect">
            <a:avLst/>
          </a:prstGeom>
          <a:noFill/>
          <a:ln/>
        </p:spPr>
        <p:txBody>
          <a:bodyPr wrap="square" lIns="0" tIns="0" rIns="0" bIns="0" rtlCol="0" anchor="ctr"/>
          <a:lstStyle/>
          <a:p>
            <a:pPr algn="r" indent="0" marL="0">
              <a:buNone/>
            </a:pPr>
            <a:r>
              <a:rPr lang="en-US" sz="1050" dirty="0">
                <a:solidFill>
                  <a:srgbClr val="44576F"/>
                </a:solidFill>
                <a:latin typeface="Calibri" pitchFamily="34" charset="0"/>
                <a:ea typeface="Calibri" pitchFamily="34" charset="-122"/>
                <a:cs typeface="Calibri" pitchFamily="34" charset="-120"/>
              </a:rPr>
              <a:t>PS 26162  ·  NTRO  ·  AsyncMavericks_SIH0162</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52360" cy="914400"/>
        </p:xfrm>
        <a:graphic>
          <a:graphicData uri="http://schemas.openxmlformats.org/drawingml/2006/table">
            <a:tbl>
              <a:tblPr/>
              <a:tblGrid>
                <a:gridCol w="1417320"/>
                <a:gridCol w="2743200"/>
                <a:gridCol w="3291840"/>
              </a:tblGrid>
              <a:tr h="274320">
                <a:tc>
                  <a:txBody>
                    <a:bodyPr/>
                    <a:lstStyle/>
                    <a:p>
                      <a:pPr indent="0" marL="0">
                        <a:buNone/>
                      </a:pPr>
                      <a:r>
                        <a:rPr lang="en-US" sz="1050" b="1" spc="80" kern="0" dirty="0">
                          <a:solidFill>
                            <a:srgbClr val="FFFFFF"/>
                          </a:solidFill>
                          <a:latin typeface="Calibri" pitchFamily="34" charset="0"/>
                          <a:ea typeface="Calibri" pitchFamily="34" charset="-122"/>
                          <a:cs typeface="Calibri" pitchFamily="34" charset="-120"/>
                        </a:rPr>
                        <a:t> LAYER</a:t>
                      </a:r>
                      <a:endParaRPr lang="en-US" sz="105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0F1B2A"/>
                    </a:solidFill>
                  </a:tcPr>
                </a:tc>
                <a:tc>
                  <a:txBody>
                    <a:bodyPr/>
                    <a:lstStyle/>
                    <a:p>
                      <a:pPr indent="0" marL="0">
                        <a:buNone/>
                      </a:pPr>
                      <a:r>
                        <a:rPr lang="en-US" sz="1050" b="1" spc="80" kern="0" dirty="0">
                          <a:solidFill>
                            <a:srgbClr val="FFFFFF"/>
                          </a:solidFill>
                          <a:latin typeface="Calibri" pitchFamily="34" charset="0"/>
                          <a:ea typeface="Calibri" pitchFamily="34" charset="-122"/>
                          <a:cs typeface="Calibri" pitchFamily="34" charset="-120"/>
                        </a:rPr>
                        <a:t> TECHNOLOGY</a:t>
                      </a:r>
                      <a:endParaRPr lang="en-US" sz="105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0F1B2A"/>
                    </a:solidFill>
                  </a:tcPr>
                </a:tc>
                <a:tc>
                  <a:txBody>
                    <a:bodyPr/>
                    <a:lstStyle/>
                    <a:p>
                      <a:pPr indent="0" marL="0">
                        <a:buNone/>
                      </a:pPr>
                      <a:r>
                        <a:rPr lang="en-US" sz="1050" b="1" spc="80" kern="0" dirty="0">
                          <a:solidFill>
                            <a:srgbClr val="FFFFFF"/>
                          </a:solidFill>
                          <a:latin typeface="Calibri" pitchFamily="34" charset="0"/>
                          <a:ea typeface="Calibri" pitchFamily="34" charset="-122"/>
                          <a:cs typeface="Calibri" pitchFamily="34" charset="-120"/>
                        </a:rPr>
                        <a:t> WHY THIS CHOICE</a:t>
                      </a:r>
                      <a:endParaRPr lang="en-US" sz="105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0F1B2A"/>
                    </a:solidFill>
                  </a:tcPr>
                </a:tc>
              </a:tr>
              <a:tr h="475488">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Data</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NASA FIRMS (VIIRS 375 m), OpenStreetMap,</a:t>
                      </a:r>
                      <a:endParaRPr lang="en-US" sz="1000" dirty="0">
                        <a:latin typeface="Calibri" charset="0"/>
                        <a:ea typeface="Calibri" charset="0"/>
                        <a:cs typeface="Calibri" charset="0"/>
                      </a:endParaRPr>
                    </a:p>
                    <a:p>
                      <a:pPr indent="0" marL="0">
                        <a:buNone/>
                      </a:pPr>
                      <a:r>
                        <a:rPr lang="en-US" sz="1000" dirty="0">
                          <a:solidFill>
                            <a:srgbClr val="24374D"/>
                          </a:solidFill>
                          <a:latin typeface="Calibri" pitchFamily="34" charset="0"/>
                          <a:ea typeface="Calibri" pitchFamily="34" charset="-122"/>
                          <a:cs typeface="Calibri" pitchFamily="34" charset="-120"/>
                        </a:rPr>
                        <a:t> ESA WorldCover 10 m, Sentinel-2</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Free, authoritative, operationally sustainable</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Geoprocessing</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Python, Shapely (R-tree), Rasterio</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Reads 10 m land cover remotely from Cloud</a:t>
                      </a:r>
                      <a:endParaRPr lang="en-US" sz="1000" dirty="0">
                        <a:latin typeface="Calibri" charset="0"/>
                        <a:ea typeface="Calibri" charset="0"/>
                        <a:cs typeface="Calibri" charset="0"/>
                      </a:endParaRPr>
                    </a:p>
                    <a:p>
                      <a:pPr indent="0" marL="0">
                        <a:buNone/>
                      </a:pPr>
                      <a:r>
                        <a:rPr lang="en-US" sz="1000" dirty="0">
                          <a:solidFill>
                            <a:srgbClr val="24374D"/>
                          </a:solidFill>
                          <a:latin typeface="Calibri" pitchFamily="34" charset="0"/>
                          <a:ea typeface="Calibri" pitchFamily="34" charset="-122"/>
                          <a:cs typeface="Calibri" pitchFamily="34" charset="-120"/>
                        </a:rPr>
                        <a:t> Optimized GeoTIFFs — no bulk download</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AI / ML</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scikit-learn — Random Forest</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Inspectable feature importance; explainability</a:t>
                      </a:r>
                      <a:endParaRPr lang="en-US" sz="1000" dirty="0">
                        <a:latin typeface="Calibri" charset="0"/>
                        <a:ea typeface="Calibri" charset="0"/>
                        <a:cs typeface="Calibri" charset="0"/>
                      </a:endParaRPr>
                    </a:p>
                    <a:p>
                      <a:pPr indent="0" marL="0">
                        <a:buNone/>
                      </a:pPr>
                      <a:r>
                        <a:rPr lang="en-US" sz="1000" dirty="0">
                          <a:solidFill>
                            <a:srgbClr val="24374D"/>
                          </a:solidFill>
                          <a:latin typeface="Calibri" pitchFamily="34" charset="0"/>
                          <a:ea typeface="Calibri" pitchFamily="34" charset="-122"/>
                          <a:cs typeface="Calibri" pitchFamily="34" charset="-120"/>
                        </a:rPr>
                        <a:t> is a requirement here, not a bonus</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Backend</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Django 5</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Authentication, ORM, role-based access, admin</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Frontend</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HTMX, Alpine.js, Tailwind CSS</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Server-rendered; no SPA build pipeline needed</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Visualisation</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Leaflet (maps), Plotly (analytics)</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Provider-agnostic — OSM, satellite and ISRO</a:t>
                      </a:r>
                      <a:endParaRPr lang="en-US" sz="1000" dirty="0">
                        <a:latin typeface="Calibri" charset="0"/>
                        <a:ea typeface="Calibri" charset="0"/>
                        <a:cs typeface="Calibri" charset="0"/>
                      </a:endParaRPr>
                    </a:p>
                    <a:p>
                      <a:pPr indent="0" marL="0">
                        <a:buNone/>
                      </a:pPr>
                      <a:r>
                        <a:rPr lang="en-US" sz="1000" dirty="0">
                          <a:solidFill>
                            <a:srgbClr val="24374D"/>
                          </a:solidFill>
                          <a:latin typeface="Calibri" pitchFamily="34" charset="0"/>
                          <a:ea typeface="Calibri" pitchFamily="34" charset="-122"/>
                          <a:cs typeface="Calibri" pitchFamily="34" charset="-120"/>
                        </a:rPr>
                        <a:t> Bhuvan layers, no vendor lock-in</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Database</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SQLite → PostgreSQL + PostGIS</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Prototype now; PostGIS when spatial joins scale</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r h="310896">
                <a:tc>
                  <a:txBody>
                    <a:bodyPr/>
                    <a:lstStyle/>
                    <a:p>
                      <a:pPr indent="0" marL="0">
                        <a:buNone/>
                      </a:pPr>
                      <a:r>
                        <a:rPr lang="en-US" sz="1000" b="1" dirty="0">
                          <a:solidFill>
                            <a:srgbClr val="24374D"/>
                          </a:solidFill>
                          <a:latin typeface="Calibri" pitchFamily="34" charset="0"/>
                          <a:ea typeface="Calibri" pitchFamily="34" charset="-122"/>
                          <a:cs typeface="Calibri" pitchFamily="34" charset="-120"/>
                        </a:rPr>
                        <a:t> Deployment</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Lightweight now → Docker + cloud</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c>
                  <a:txBody>
                    <a:bodyPr/>
                    <a:lstStyle/>
                    <a:p>
                      <a:pPr indent="0" marL="0">
                        <a:buNone/>
                      </a:pPr>
                      <a:r>
                        <a:rPr lang="en-US" sz="1000" dirty="0">
                          <a:solidFill>
                            <a:srgbClr val="24374D"/>
                          </a:solidFill>
                          <a:latin typeface="Calibri" pitchFamily="34" charset="0"/>
                          <a:ea typeface="Calibri" pitchFamily="34" charset="-122"/>
                          <a:cs typeface="Calibri" pitchFamily="34" charset="-120"/>
                        </a:rPr>
                        <a:t> AI and geospatial pipeline never rewritten</a:t>
                      </a:r>
                      <a:endParaRPr lang="en-US" sz="1000" dirty="0">
                        <a:latin typeface="Calibri" charset="0"/>
                        <a:ea typeface="Calibri" charset="0"/>
                        <a:cs typeface="Calibri" charset="0"/>
                      </a:endParaRPr>
                    </a:p>
                  </a:txBody>
                  <a:tcPr marL="91440" marR="91440" marT="45720" marB="45720" anchor="ctr">
                    <a:lnL w="12700" cap="flat" cmpd="sng" algn="ctr">
                      <a:solidFill>
                        <a:srgbClr val="DDE4EC"/>
                      </a:solidFill>
                      <a:prstDash val="solid"/>
                      <a:round/>
                      <a:headEnd type="none" w="med" len="med"/>
                      <a:tailEnd type="none" w="med" len="med"/>
                    </a:lnL>
                    <a:lnR w="12700" cap="flat" cmpd="sng" algn="ctr">
                      <a:solidFill>
                        <a:srgbClr val="DDE4EC"/>
                      </a:solidFill>
                      <a:prstDash val="solid"/>
                      <a:round/>
                      <a:headEnd type="none" w="med" len="med"/>
                      <a:tailEnd type="none" w="med" len="med"/>
                    </a:lnR>
                    <a:lnT w="12700" cap="flat" cmpd="sng" algn="ctr">
                      <a:solidFill>
                        <a:srgbClr val="DDE4EC"/>
                      </a:solidFill>
                      <a:prstDash val="solid"/>
                      <a:round/>
                      <a:headEnd type="none" w="med" len="med"/>
                      <a:tailEnd type="none" w="med" len="med"/>
                    </a:lnT>
                    <a:lnB w="12700" cap="flat" cmpd="sng" algn="ctr">
                      <a:solidFill>
                        <a:srgbClr val="DDE4EC"/>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8275320" y="1417320"/>
            <a:ext cx="3337560" cy="237744"/>
          </a:xfrm>
          <a:prstGeom prst="rect">
            <a:avLst/>
          </a:prstGeom>
          <a:noFill/>
          <a:ln/>
        </p:spPr>
        <p:txBody>
          <a:bodyPr wrap="square" lIns="0" tIns="0" rIns="0" bIns="0" rtlCol="0" anchor="ctr"/>
          <a:lstStyle/>
          <a:p>
            <a:pPr indent="0" marL="0">
              <a:buNone/>
            </a:pPr>
            <a:r>
              <a:rPr lang="en-US" sz="1000" b="1" spc="120" kern="0" dirty="0">
                <a:solidFill>
                  <a:srgbClr val="44576F"/>
                </a:solidFill>
                <a:latin typeface="Calibri" pitchFamily="34" charset="0"/>
                <a:ea typeface="Calibri" pitchFamily="34" charset="-122"/>
                <a:cs typeface="Calibri" pitchFamily="34" charset="-120"/>
              </a:rPr>
              <a:t>PROTOTYPE STATUS — MEASURED</a:t>
            </a:r>
            <a:endParaRPr lang="en-US" sz="1000" dirty="0"/>
          </a:p>
        </p:txBody>
      </p:sp>
      <p:sp>
        <p:nvSpPr>
          <p:cNvPr id="7" name="Shape 4"/>
          <p:cNvSpPr/>
          <p:nvPr/>
        </p:nvSpPr>
        <p:spPr>
          <a:xfrm>
            <a:off x="8275320" y="1783080"/>
            <a:ext cx="3337560" cy="932688"/>
          </a:xfrm>
          <a:prstGeom prst="roundRect">
            <a:avLst>
              <a:gd name="adj" fmla="val 6863"/>
            </a:avLst>
          </a:prstGeom>
          <a:solidFill>
            <a:srgbClr val="FFFFFF"/>
          </a:solidFill>
          <a:ln w="12700">
            <a:solidFill>
              <a:srgbClr val="DDE4EC"/>
            </a:solidFill>
            <a:prstDash val="solid"/>
          </a:ln>
        </p:spPr>
      </p:sp>
      <p:sp>
        <p:nvSpPr>
          <p:cNvPr id="8" name="Text 5"/>
          <p:cNvSpPr txBox="1"/>
          <p:nvPr/>
        </p:nvSpPr>
        <p:spPr>
          <a:xfrm>
            <a:off x="8430768" y="2002536"/>
            <a:ext cx="1234440" cy="502920"/>
          </a:xfrm>
          <a:prstGeom prst="rect">
            <a:avLst/>
          </a:prstGeom>
          <a:noFill/>
          <a:ln/>
        </p:spPr>
        <p:txBody>
          <a:bodyPr wrap="square" lIns="0" tIns="0" rIns="0" bIns="0" rtlCol="0" anchor="ctr"/>
          <a:lstStyle/>
          <a:p>
            <a:pPr indent="0" marL="0">
              <a:buNone/>
            </a:pPr>
            <a:r>
              <a:rPr lang="en-US" sz="3000" b="1" dirty="0">
                <a:solidFill>
                  <a:srgbClr val="EA580C"/>
                </a:solidFill>
                <a:latin typeface="Calibri" pitchFamily="34" charset="0"/>
                <a:ea typeface="Calibri" pitchFamily="34" charset="-122"/>
                <a:cs typeface="Calibri" pitchFamily="34" charset="-120"/>
              </a:rPr>
              <a:t>106</a:t>
            </a:r>
            <a:endParaRPr lang="en-US" sz="3000" dirty="0"/>
          </a:p>
        </p:txBody>
      </p:sp>
      <p:sp>
        <p:nvSpPr>
          <p:cNvPr id="9" name="Text 6"/>
          <p:cNvSpPr txBox="1"/>
          <p:nvPr/>
        </p:nvSpPr>
        <p:spPr>
          <a:xfrm>
            <a:off x="9710928" y="1965960"/>
            <a:ext cx="1783080" cy="621792"/>
          </a:xfrm>
          <a:prstGeom prst="rect">
            <a:avLst/>
          </a:prstGeom>
          <a:noFill/>
          <a:ln/>
        </p:spPr>
        <p:txBody>
          <a:bodyPr wrap="square" lIns="0" tIns="0" rIns="0" bIns="0" rtlCol="0" anchor="ctr"/>
          <a:lstStyle/>
          <a:p>
            <a:pPr indent="0" marL="0">
              <a:lnSpc>
                <a:spcPts val="1100"/>
              </a:lnSpc>
              <a:buNone/>
            </a:pPr>
            <a:r>
              <a:rPr lang="en-US" sz="850" dirty="0">
                <a:solidFill>
                  <a:srgbClr val="44576F"/>
                </a:solidFill>
                <a:latin typeface="Calibri" pitchFamily="34" charset="0"/>
                <a:ea typeface="Calibri" pitchFamily="34" charset="-122"/>
                <a:cs typeface="Calibri" pitchFamily="34" charset="-120"/>
              </a:rPr>
              <a:t>thermal sites classified across Gujarat from live NASA data</a:t>
            </a:r>
            <a:endParaRPr lang="en-US" sz="850" dirty="0"/>
          </a:p>
        </p:txBody>
      </p:sp>
      <p:sp>
        <p:nvSpPr>
          <p:cNvPr id="10" name="Shape 7"/>
          <p:cNvSpPr/>
          <p:nvPr/>
        </p:nvSpPr>
        <p:spPr>
          <a:xfrm>
            <a:off x="8275320" y="2862072"/>
            <a:ext cx="3337560" cy="932688"/>
          </a:xfrm>
          <a:prstGeom prst="roundRect">
            <a:avLst>
              <a:gd name="adj" fmla="val 6863"/>
            </a:avLst>
          </a:prstGeom>
          <a:solidFill>
            <a:srgbClr val="FFFFFF"/>
          </a:solidFill>
          <a:ln w="12700">
            <a:solidFill>
              <a:srgbClr val="DDE4EC"/>
            </a:solidFill>
            <a:prstDash val="solid"/>
          </a:ln>
        </p:spPr>
      </p:sp>
      <p:sp>
        <p:nvSpPr>
          <p:cNvPr id="11" name="Text 8"/>
          <p:cNvSpPr txBox="1"/>
          <p:nvPr/>
        </p:nvSpPr>
        <p:spPr>
          <a:xfrm>
            <a:off x="8430768" y="3081528"/>
            <a:ext cx="1234440" cy="502920"/>
          </a:xfrm>
          <a:prstGeom prst="rect">
            <a:avLst/>
          </a:prstGeom>
          <a:noFill/>
          <a:ln/>
        </p:spPr>
        <p:txBody>
          <a:bodyPr wrap="square" lIns="0" tIns="0" rIns="0" bIns="0" rtlCol="0" anchor="ctr"/>
          <a:lstStyle/>
          <a:p>
            <a:pPr indent="0" marL="0">
              <a:buNone/>
            </a:pPr>
            <a:r>
              <a:rPr lang="en-US" sz="3000" b="1" dirty="0">
                <a:solidFill>
                  <a:srgbClr val="EA580C"/>
                </a:solidFill>
                <a:latin typeface="Calibri" pitchFamily="34" charset="0"/>
                <a:ea typeface="Calibri" pitchFamily="34" charset="-122"/>
                <a:cs typeface="Calibri" pitchFamily="34" charset="-120"/>
              </a:rPr>
              <a:t>3,595</a:t>
            </a:r>
            <a:endParaRPr lang="en-US" sz="3000" dirty="0"/>
          </a:p>
        </p:txBody>
      </p:sp>
      <p:sp>
        <p:nvSpPr>
          <p:cNvPr id="12" name="Text 9"/>
          <p:cNvSpPr txBox="1"/>
          <p:nvPr/>
        </p:nvSpPr>
        <p:spPr>
          <a:xfrm>
            <a:off x="9710928" y="3044952"/>
            <a:ext cx="1783080" cy="621792"/>
          </a:xfrm>
          <a:prstGeom prst="rect">
            <a:avLst/>
          </a:prstGeom>
          <a:noFill/>
          <a:ln/>
        </p:spPr>
        <p:txBody>
          <a:bodyPr wrap="square" lIns="0" tIns="0" rIns="0" bIns="0" rtlCol="0" anchor="ctr"/>
          <a:lstStyle/>
          <a:p>
            <a:pPr indent="0" marL="0">
              <a:lnSpc>
                <a:spcPts val="1100"/>
              </a:lnSpc>
              <a:buNone/>
            </a:pPr>
            <a:r>
              <a:rPr lang="en-US" sz="850" dirty="0">
                <a:solidFill>
                  <a:srgbClr val="44576F"/>
                </a:solidFill>
                <a:latin typeface="Calibri" pitchFamily="34" charset="0"/>
                <a:ea typeface="Calibri" pitchFamily="34" charset="-122"/>
                <a:cs typeface="Calibri" pitchFamily="34" charset="-120"/>
              </a:rPr>
              <a:t>OSM industrial features ingested and indexed</a:t>
            </a:r>
            <a:endParaRPr lang="en-US" sz="850" dirty="0"/>
          </a:p>
        </p:txBody>
      </p:sp>
      <p:sp>
        <p:nvSpPr>
          <p:cNvPr id="13" name="Shape 10"/>
          <p:cNvSpPr/>
          <p:nvPr/>
        </p:nvSpPr>
        <p:spPr>
          <a:xfrm>
            <a:off x="8275320" y="3941064"/>
            <a:ext cx="3337560" cy="932688"/>
          </a:xfrm>
          <a:prstGeom prst="roundRect">
            <a:avLst>
              <a:gd name="adj" fmla="val 6863"/>
            </a:avLst>
          </a:prstGeom>
          <a:solidFill>
            <a:srgbClr val="FFFFFF"/>
          </a:solidFill>
          <a:ln w="12700">
            <a:solidFill>
              <a:srgbClr val="DDE4EC"/>
            </a:solidFill>
            <a:prstDash val="solid"/>
          </a:ln>
        </p:spPr>
      </p:sp>
      <p:sp>
        <p:nvSpPr>
          <p:cNvPr id="14" name="Text 11"/>
          <p:cNvSpPr txBox="1"/>
          <p:nvPr/>
        </p:nvSpPr>
        <p:spPr>
          <a:xfrm>
            <a:off x="8430768" y="4160520"/>
            <a:ext cx="1234440" cy="502920"/>
          </a:xfrm>
          <a:prstGeom prst="rect">
            <a:avLst/>
          </a:prstGeom>
          <a:noFill/>
          <a:ln/>
        </p:spPr>
        <p:txBody>
          <a:bodyPr wrap="square" lIns="0" tIns="0" rIns="0" bIns="0" rtlCol="0" anchor="ctr"/>
          <a:lstStyle/>
          <a:p>
            <a:pPr indent="0" marL="0">
              <a:buNone/>
            </a:pPr>
            <a:r>
              <a:rPr lang="en-US" sz="3000" b="1" dirty="0">
                <a:solidFill>
                  <a:srgbClr val="EA580C"/>
                </a:solidFill>
                <a:latin typeface="Calibri" pitchFamily="34" charset="0"/>
                <a:ea typeface="Calibri" pitchFamily="34" charset="-122"/>
                <a:cs typeface="Calibri" pitchFamily="34" charset="-120"/>
              </a:rPr>
              <a:t>100%</a:t>
            </a:r>
            <a:endParaRPr lang="en-US" sz="3000" dirty="0"/>
          </a:p>
        </p:txBody>
      </p:sp>
      <p:sp>
        <p:nvSpPr>
          <p:cNvPr id="15" name="Text 12"/>
          <p:cNvSpPr txBox="1"/>
          <p:nvPr/>
        </p:nvSpPr>
        <p:spPr>
          <a:xfrm>
            <a:off x="9710928" y="4123944"/>
            <a:ext cx="1783080" cy="621792"/>
          </a:xfrm>
          <a:prstGeom prst="rect">
            <a:avLst/>
          </a:prstGeom>
          <a:noFill/>
          <a:ln/>
        </p:spPr>
        <p:txBody>
          <a:bodyPr wrap="square" lIns="0" tIns="0" rIns="0" bIns="0" rtlCol="0" anchor="ctr"/>
          <a:lstStyle/>
          <a:p>
            <a:pPr indent="0" marL="0">
              <a:lnSpc>
                <a:spcPts val="1100"/>
              </a:lnSpc>
              <a:buNone/>
            </a:pPr>
            <a:r>
              <a:rPr lang="en-US" sz="850" dirty="0">
                <a:solidFill>
                  <a:srgbClr val="44576F"/>
                </a:solidFill>
                <a:latin typeface="Calibri" pitchFamily="34" charset="0"/>
                <a:ea typeface="Calibri" pitchFamily="34" charset="-122"/>
                <a:cs typeface="Calibri" pitchFamily="34" charset="-120"/>
              </a:rPr>
              <a:t>land cover resolved by ESA WorldCover (OSM alone left 56% unresolved)</a:t>
            </a:r>
            <a:endParaRPr lang="en-US" sz="850" dirty="0"/>
          </a:p>
        </p:txBody>
      </p:sp>
      <p:sp>
        <p:nvSpPr>
          <p:cNvPr id="16" name="Text 13"/>
          <p:cNvSpPr txBox="1"/>
          <p:nvPr/>
        </p:nvSpPr>
        <p:spPr>
          <a:xfrm>
            <a:off x="8275320" y="5047488"/>
            <a:ext cx="3337560" cy="777240"/>
          </a:xfrm>
          <a:prstGeom prst="rect">
            <a:avLst/>
          </a:prstGeom>
          <a:noFill/>
          <a:ln/>
        </p:spPr>
        <p:txBody>
          <a:bodyPr wrap="square" lIns="0" tIns="0" rIns="0" bIns="0" rtlCol="0" anchor="ctr"/>
          <a:lstStyle/>
          <a:p>
            <a:pPr indent="0" marL="0">
              <a:lnSpc>
                <a:spcPts val="1200"/>
              </a:lnSpc>
              <a:buNone/>
            </a:pPr>
            <a:r>
              <a:rPr lang="en-US" sz="950" b="1" dirty="0">
                <a:solidFill>
                  <a:srgbClr val="0F1B2A"/>
                </a:solidFill>
                <a:latin typeface="Calibri" pitchFamily="34" charset="0"/>
                <a:ea typeface="Calibri" pitchFamily="34" charset="-122"/>
                <a:cs typeface="Calibri" pitchFamily="34" charset="-120"/>
              </a:rPr>
              <a:t>Verified on live data:  </a:t>
            </a:r>
            <a:pPr indent="0" marL="0">
              <a:lnSpc>
                <a:spcPts val="1200"/>
              </a:lnSpc>
              <a:buNone/>
            </a:pPr>
            <a:r>
              <a:rPr lang="en-US" sz="950" dirty="0">
                <a:solidFill>
                  <a:srgbClr val="24374D"/>
                </a:solidFill>
                <a:latin typeface="Calibri" pitchFamily="34" charset="0"/>
                <a:ea typeface="Calibri" pitchFamily="34" charset="-122"/>
                <a:cs typeface="Calibri" pitchFamily="34" charset="-120"/>
              </a:rPr>
              <a:t>correctly identified a persistent flare at Reliance Refinery, Jamnagar — 105 m from the mapped facility, FRP stable at CV 0.21.</a:t>
            </a:r>
            <a:endParaRPr lang="en-US" sz="950" dirty="0"/>
          </a:p>
        </p:txBody>
      </p:sp>
      <p:sp>
        <p:nvSpPr>
          <p:cNvPr id="17" name="Shape 14"/>
          <p:cNvSpPr/>
          <p:nvPr/>
        </p:nvSpPr>
        <p:spPr>
          <a:xfrm>
            <a:off x="548640" y="5943600"/>
            <a:ext cx="11064240" cy="566928"/>
          </a:xfrm>
          <a:prstGeom prst="roundRect">
            <a:avLst>
              <a:gd name="adj" fmla="val 11290"/>
            </a:avLst>
          </a:prstGeom>
          <a:solidFill>
            <a:srgbClr val="FDF0E7"/>
          </a:solidFill>
          <a:ln w="12700">
            <a:solidFill>
              <a:srgbClr val="333333"/>
            </a:solidFill>
            <a:prstDash val="solid"/>
          </a:ln>
        </p:spPr>
      </p:sp>
      <p:sp>
        <p:nvSpPr>
          <p:cNvPr id="18" name="Text 15"/>
          <p:cNvSpPr txBox="1"/>
          <p:nvPr/>
        </p:nvSpPr>
        <p:spPr>
          <a:xfrm>
            <a:off x="868680" y="6035040"/>
            <a:ext cx="10515600" cy="384048"/>
          </a:xfrm>
          <a:prstGeom prst="rect">
            <a:avLst/>
          </a:prstGeom>
          <a:noFill/>
          <a:ln/>
        </p:spPr>
        <p:txBody>
          <a:bodyPr wrap="square" lIns="0" tIns="0" rIns="0" bIns="0" rtlCol="0" anchor="ctr"/>
          <a:lstStyle/>
          <a:p>
            <a:pPr indent="0" marL="0">
              <a:buNone/>
            </a:pPr>
            <a:r>
              <a:rPr lang="en-US" sz="1100" b="1" dirty="0">
                <a:solidFill>
                  <a:srgbClr val="9A3412"/>
                </a:solidFill>
                <a:latin typeface="Calibri" pitchFamily="34" charset="0"/>
                <a:ea typeface="Calibri" pitchFamily="34" charset="-122"/>
                <a:cs typeface="Calibri" pitchFamily="34" charset="-120"/>
              </a:rPr>
              <a:t>Stated honestly:  </a:t>
            </a:r>
            <a:pPr indent="0" marL="0">
              <a:buNone/>
            </a:pPr>
            <a:r>
              <a:rPr lang="en-US" sz="1100" dirty="0">
                <a:solidFill>
                  <a:srgbClr val="7C2D12"/>
                </a:solidFill>
                <a:latin typeface="Calibri" pitchFamily="34" charset="0"/>
                <a:ea typeface="Calibri" pitchFamily="34" charset="-122"/>
                <a:cs typeface="Calibri" pitchFamily="34" charset="-120"/>
              </a:rPr>
              <a:t>v1 classification uses a documented, transparent rule set. The machine learning model follows the labelled dataset. No accuracy figure is claimed until a held-out test set exists.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AgniDrishti - Technical Slides</dc:title>
  <dc:subject>PptxGenJS Presentation</dc:subject>
  <dc:creator>Team AsyncMavericks_SIH0162</dc:creator>
  <cp:lastModifiedBy>Team AsyncMavericks_SIH0162</cp:lastModifiedBy>
  <cp:revision>1</cp:revision>
  <dcterms:created xsi:type="dcterms:W3CDTF">2026-09-15T14:09:34Z</dcterms:created>
  <dcterms:modified xsi:type="dcterms:W3CDTF">2026-09-15T14:09:34Z</dcterms:modified>
</cp:coreProperties>
</file>